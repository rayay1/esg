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59B4A5-2E79-68B5-7B40-44DBAE7B83CD}" v="264" dt="2026-06-05T11:34:08.650"/>
    <p1510:client id="{D99E7B8A-8AC3-82FB-AEF5-80664D62E6AB}" v="18" dt="2026-06-05T03:49:29.9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信全 陳" userId="77395c219307b7df" providerId="Windows Live" clId="Web-{D99E7B8A-8AC3-82FB-AEF5-80664D62E6AB}"/>
    <pc:docChg chg="modSld">
      <pc:chgData name="信全 陳" userId="77395c219307b7df" providerId="Windows Live" clId="Web-{D99E7B8A-8AC3-82FB-AEF5-80664D62E6AB}" dt="2026-06-05T03:49:29.976" v="15" actId="14100"/>
      <pc:docMkLst>
        <pc:docMk/>
      </pc:docMkLst>
      <pc:sldChg chg="modSp">
        <pc:chgData name="信全 陳" userId="77395c219307b7df" providerId="Windows Live" clId="Web-{D99E7B8A-8AC3-82FB-AEF5-80664D62E6AB}" dt="2026-06-05T03:48:31.912" v="4" actId="20577"/>
        <pc:sldMkLst>
          <pc:docMk/>
          <pc:sldMk cId="0" sldId="256"/>
        </pc:sldMkLst>
        <pc:spChg chg="mod">
          <ac:chgData name="信全 陳" userId="77395c219307b7df" providerId="Windows Live" clId="Web-{D99E7B8A-8AC3-82FB-AEF5-80664D62E6AB}" dt="2026-06-05T03:48:31.912" v="4" actId="20577"/>
          <ac:spMkLst>
            <pc:docMk/>
            <pc:sldMk cId="0" sldId="256"/>
            <ac:spMk id="5" creationId="{00000000-0000-0000-0000-000000000000}"/>
          </ac:spMkLst>
        </pc:spChg>
        <pc:spChg chg="mod">
          <ac:chgData name="信全 陳" userId="77395c219307b7df" providerId="Windows Live" clId="Web-{D99E7B8A-8AC3-82FB-AEF5-80664D62E6AB}" dt="2026-06-05T03:48:26.677" v="2" actId="20577"/>
          <ac:spMkLst>
            <pc:docMk/>
            <pc:sldMk cId="0" sldId="256"/>
            <ac:spMk id="6" creationId="{00000000-0000-0000-0000-000000000000}"/>
          </ac:spMkLst>
        </pc:spChg>
      </pc:sldChg>
      <pc:sldChg chg="modSp">
        <pc:chgData name="信全 陳" userId="77395c219307b7df" providerId="Windows Live" clId="Web-{D99E7B8A-8AC3-82FB-AEF5-80664D62E6AB}" dt="2026-06-05T03:49:29.976" v="15" actId="14100"/>
        <pc:sldMkLst>
          <pc:docMk/>
          <pc:sldMk cId="0" sldId="261"/>
        </pc:sldMkLst>
        <pc:picChg chg="mod">
          <ac:chgData name="信全 陳" userId="77395c219307b7df" providerId="Windows Live" clId="Web-{D99E7B8A-8AC3-82FB-AEF5-80664D62E6AB}" dt="2026-06-05T03:49:29.976" v="15" actId="14100"/>
          <ac:picMkLst>
            <pc:docMk/>
            <pc:sldMk cId="0" sldId="261"/>
            <ac:picMk id="7" creationId="{00000000-0000-0000-0000-000000000000}"/>
          </ac:picMkLst>
        </pc:picChg>
      </pc:sldChg>
      <pc:sldChg chg="modSp">
        <pc:chgData name="信全 陳" userId="77395c219307b7df" providerId="Windows Live" clId="Web-{D99E7B8A-8AC3-82FB-AEF5-80664D62E6AB}" dt="2026-06-05T03:49:17.695" v="13" actId="1076"/>
        <pc:sldMkLst>
          <pc:docMk/>
          <pc:sldMk cId="0" sldId="267"/>
        </pc:sldMkLst>
        <pc:picChg chg="mod">
          <ac:chgData name="信全 陳" userId="77395c219307b7df" providerId="Windows Live" clId="Web-{D99E7B8A-8AC3-82FB-AEF5-80664D62E6AB}" dt="2026-06-05T03:49:17.695" v="13" actId="1076"/>
          <ac:picMkLst>
            <pc:docMk/>
            <pc:sldMk cId="0" sldId="267"/>
            <ac:picMk id="7" creationId="{00000000-0000-0000-0000-000000000000}"/>
          </ac:picMkLst>
        </pc:picChg>
      </pc:sldChg>
      <pc:sldChg chg="modSp">
        <pc:chgData name="信全 陳" userId="77395c219307b7df" providerId="Windows Live" clId="Web-{D99E7B8A-8AC3-82FB-AEF5-80664D62E6AB}" dt="2026-06-05T03:49:09.038" v="10" actId="14100"/>
        <pc:sldMkLst>
          <pc:docMk/>
          <pc:sldMk cId="0" sldId="268"/>
        </pc:sldMkLst>
        <pc:picChg chg="mod">
          <ac:chgData name="信全 陳" userId="77395c219307b7df" providerId="Windows Live" clId="Web-{D99E7B8A-8AC3-82FB-AEF5-80664D62E6AB}" dt="2026-06-05T03:49:09.038" v="10" actId="14100"/>
          <ac:picMkLst>
            <pc:docMk/>
            <pc:sldMk cId="0" sldId="268"/>
            <ac:picMk id="5" creationId="{00000000-0000-0000-0000-000000000000}"/>
          </ac:picMkLst>
        </pc:picChg>
      </pc:sldChg>
      <pc:sldChg chg="modSp">
        <pc:chgData name="信全 陳" userId="77395c219307b7df" providerId="Windows Live" clId="Web-{D99E7B8A-8AC3-82FB-AEF5-80664D62E6AB}" dt="2026-06-05T03:49:01.475" v="9" actId="14100"/>
        <pc:sldMkLst>
          <pc:docMk/>
          <pc:sldMk cId="0" sldId="269"/>
        </pc:sldMkLst>
        <pc:picChg chg="mod">
          <ac:chgData name="信全 陳" userId="77395c219307b7df" providerId="Windows Live" clId="Web-{D99E7B8A-8AC3-82FB-AEF5-80664D62E6AB}" dt="2026-06-05T03:49:01.475" v="9" actId="14100"/>
          <ac:picMkLst>
            <pc:docMk/>
            <pc:sldMk cId="0" sldId="269"/>
            <ac:picMk id="7" creationId="{00000000-0000-0000-0000-000000000000}"/>
          </ac:picMkLst>
        </pc:picChg>
      </pc:sldChg>
      <pc:sldChg chg="modSp">
        <pc:chgData name="信全 陳" userId="77395c219307b7df" providerId="Windows Live" clId="Web-{D99E7B8A-8AC3-82FB-AEF5-80664D62E6AB}" dt="2026-06-05T03:48:54.506" v="7" actId="14100"/>
        <pc:sldMkLst>
          <pc:docMk/>
          <pc:sldMk cId="0" sldId="270"/>
        </pc:sldMkLst>
        <pc:picChg chg="mod">
          <ac:chgData name="信全 陳" userId="77395c219307b7df" providerId="Windows Live" clId="Web-{D99E7B8A-8AC3-82FB-AEF5-80664D62E6AB}" dt="2026-06-05T03:48:54.506" v="7" actId="14100"/>
          <ac:picMkLst>
            <pc:docMk/>
            <pc:sldMk cId="0" sldId="270"/>
            <ac:picMk id="7" creationId="{00000000-0000-0000-0000-000000000000}"/>
          </ac:picMkLst>
        </pc:picChg>
      </pc:sldChg>
    </pc:docChg>
  </pc:docChgLst>
  <pc:docChgLst>
    <pc:chgData name="信全 陳" userId="77395c219307b7df" providerId="Windows Live" clId="Web-{9559B4A5-2E79-68B5-7B40-44DBAE7B83CD}"/>
    <pc:docChg chg="delSld modSld">
      <pc:chgData name="信全 陳" userId="77395c219307b7df" providerId="Windows Live" clId="Web-{9559B4A5-2E79-68B5-7B40-44DBAE7B83CD}" dt="2026-06-05T11:34:08.588" v="169" actId="20577"/>
      <pc:docMkLst>
        <pc:docMk/>
      </pc:docMkLst>
      <pc:sldChg chg="modSp">
        <pc:chgData name="信全 陳" userId="77395c219307b7df" providerId="Windows Live" clId="Web-{9559B4A5-2E79-68B5-7B40-44DBAE7B83CD}" dt="2026-06-05T11:34:08.588" v="169" actId="20577"/>
        <pc:sldMkLst>
          <pc:docMk/>
          <pc:sldMk cId="0" sldId="257"/>
        </pc:sldMkLst>
        <pc:spChg chg="mod">
          <ac:chgData name="信全 陳" userId="77395c219307b7df" providerId="Windows Live" clId="Web-{9559B4A5-2E79-68B5-7B40-44DBAE7B83CD}" dt="2026-06-05T11:03:14.515" v="136" actId="20577"/>
          <ac:spMkLst>
            <pc:docMk/>
            <pc:sldMk cId="0" sldId="257"/>
            <ac:spMk id="2" creationId="{00000000-0000-0000-0000-000000000000}"/>
          </ac:spMkLst>
        </pc:spChg>
        <pc:spChg chg="mod">
          <ac:chgData name="信全 陳" userId="77395c219307b7df" providerId="Windows Live" clId="Web-{9559B4A5-2E79-68B5-7B40-44DBAE7B83CD}" dt="2026-06-05T10:56:31.204" v="15" actId="20577"/>
          <ac:spMkLst>
            <pc:docMk/>
            <pc:sldMk cId="0" sldId="257"/>
            <ac:spMk id="6" creationId="{00000000-0000-0000-0000-000000000000}"/>
          </ac:spMkLst>
        </pc:spChg>
        <pc:spChg chg="mod">
          <ac:chgData name="信全 陳" userId="77395c219307b7df" providerId="Windows Live" clId="Web-{9559B4A5-2E79-68B5-7B40-44DBAE7B83CD}" dt="2026-06-05T10:56:22.813" v="5" actId="20577"/>
          <ac:spMkLst>
            <pc:docMk/>
            <pc:sldMk cId="0" sldId="257"/>
            <ac:spMk id="9" creationId="{00000000-0000-0000-0000-000000000000}"/>
          </ac:spMkLst>
        </pc:spChg>
        <pc:spChg chg="mod">
          <ac:chgData name="信全 陳" userId="77395c219307b7df" providerId="Windows Live" clId="Web-{9559B4A5-2E79-68B5-7B40-44DBAE7B83CD}" dt="2026-06-05T11:34:08.588" v="169" actId="20577"/>
          <ac:spMkLst>
            <pc:docMk/>
            <pc:sldMk cId="0" sldId="257"/>
            <ac:spMk id="12" creationId="{00000000-0000-0000-0000-000000000000}"/>
          </ac:spMkLst>
        </pc:spChg>
        <pc:spChg chg="mod">
          <ac:chgData name="信全 陳" userId="77395c219307b7df" providerId="Windows Live" clId="Web-{9559B4A5-2E79-68B5-7B40-44DBAE7B83CD}" dt="2026-06-05T10:56:28.860" v="13" actId="20577"/>
          <ac:spMkLst>
            <pc:docMk/>
            <pc:sldMk cId="0" sldId="257"/>
            <ac:spMk id="15" creationId="{00000000-0000-0000-0000-000000000000}"/>
          </ac:spMkLst>
        </pc:spChg>
      </pc:sldChg>
      <pc:sldChg chg="modSp">
        <pc:chgData name="信全 陳" userId="77395c219307b7df" providerId="Windows Live" clId="Web-{9559B4A5-2E79-68B5-7B40-44DBAE7B83CD}" dt="2026-06-05T10:56:44.970" v="21" actId="20577"/>
        <pc:sldMkLst>
          <pc:docMk/>
          <pc:sldMk cId="0" sldId="258"/>
        </pc:sldMkLst>
        <pc:spChg chg="mod">
          <ac:chgData name="信全 陳" userId="77395c219307b7df" providerId="Windows Live" clId="Web-{9559B4A5-2E79-68B5-7B40-44DBAE7B83CD}" dt="2026-06-05T10:56:42.689" v="18" actId="20577"/>
          <ac:spMkLst>
            <pc:docMk/>
            <pc:sldMk cId="0" sldId="258"/>
            <ac:spMk id="6" creationId="{00000000-0000-0000-0000-000000000000}"/>
          </ac:spMkLst>
        </pc:spChg>
        <pc:spChg chg="mod">
          <ac:chgData name="信全 陳" userId="77395c219307b7df" providerId="Windows Live" clId="Web-{9559B4A5-2E79-68B5-7B40-44DBAE7B83CD}" dt="2026-06-05T10:56:44.970" v="21" actId="20577"/>
          <ac:spMkLst>
            <pc:docMk/>
            <pc:sldMk cId="0" sldId="258"/>
            <ac:spMk id="9" creationId="{00000000-0000-0000-0000-000000000000}"/>
          </ac:spMkLst>
        </pc:spChg>
      </pc:sldChg>
      <pc:sldChg chg="modSp">
        <pc:chgData name="信全 陳" userId="77395c219307b7df" providerId="Windows Live" clId="Web-{9559B4A5-2E79-68B5-7B40-44DBAE7B83CD}" dt="2026-06-05T11:03:37.953" v="146" actId="20577"/>
        <pc:sldMkLst>
          <pc:docMk/>
          <pc:sldMk cId="0" sldId="259"/>
        </pc:sldMkLst>
        <pc:spChg chg="mod">
          <ac:chgData name="信全 陳" userId="77395c219307b7df" providerId="Windows Live" clId="Web-{9559B4A5-2E79-68B5-7B40-44DBAE7B83CD}" dt="2026-06-05T11:03:32.203" v="142" actId="20577"/>
          <ac:spMkLst>
            <pc:docMk/>
            <pc:sldMk cId="0" sldId="259"/>
            <ac:spMk id="6" creationId="{00000000-0000-0000-0000-000000000000}"/>
          </ac:spMkLst>
        </pc:spChg>
        <pc:spChg chg="mod">
          <ac:chgData name="信全 陳" userId="77395c219307b7df" providerId="Windows Live" clId="Web-{9559B4A5-2E79-68B5-7B40-44DBAE7B83CD}" dt="2026-06-05T11:03:36.500" v="145" actId="20577"/>
          <ac:spMkLst>
            <pc:docMk/>
            <pc:sldMk cId="0" sldId="259"/>
            <ac:spMk id="9" creationId="{00000000-0000-0000-0000-000000000000}"/>
          </ac:spMkLst>
        </pc:spChg>
        <pc:spChg chg="mod">
          <ac:chgData name="信全 陳" userId="77395c219307b7df" providerId="Windows Live" clId="Web-{9559B4A5-2E79-68B5-7B40-44DBAE7B83CD}" dt="2026-06-05T11:03:35.156" v="144" actId="20577"/>
          <ac:spMkLst>
            <pc:docMk/>
            <pc:sldMk cId="0" sldId="259"/>
            <ac:spMk id="12" creationId="{00000000-0000-0000-0000-000000000000}"/>
          </ac:spMkLst>
        </pc:spChg>
        <pc:spChg chg="mod">
          <ac:chgData name="信全 陳" userId="77395c219307b7df" providerId="Windows Live" clId="Web-{9559B4A5-2E79-68B5-7B40-44DBAE7B83CD}" dt="2026-06-05T11:03:37.953" v="146" actId="20577"/>
          <ac:spMkLst>
            <pc:docMk/>
            <pc:sldMk cId="0" sldId="259"/>
            <ac:spMk id="15" creationId="{00000000-0000-0000-0000-000000000000}"/>
          </ac:spMkLst>
        </pc:spChg>
      </pc:sldChg>
      <pc:sldChg chg="modSp">
        <pc:chgData name="信全 陳" userId="77395c219307b7df" providerId="Windows Live" clId="Web-{9559B4A5-2E79-68B5-7B40-44DBAE7B83CD}" dt="2026-06-05T11:03:25.577" v="141" actId="20577"/>
        <pc:sldMkLst>
          <pc:docMk/>
          <pc:sldMk cId="0" sldId="260"/>
        </pc:sldMkLst>
        <pc:spChg chg="mod">
          <ac:chgData name="信全 陳" userId="77395c219307b7df" providerId="Windows Live" clId="Web-{9559B4A5-2E79-68B5-7B40-44DBAE7B83CD}" dt="2026-06-05T11:03:18.515" v="137" actId="20577"/>
          <ac:spMkLst>
            <pc:docMk/>
            <pc:sldMk cId="0" sldId="260"/>
            <ac:spMk id="2" creationId="{00000000-0000-0000-0000-000000000000}"/>
          </ac:spMkLst>
        </pc:spChg>
        <pc:spChg chg="mod">
          <ac:chgData name="信全 陳" userId="77395c219307b7df" providerId="Windows Live" clId="Web-{9559B4A5-2E79-68B5-7B40-44DBAE7B83CD}" dt="2026-06-05T11:03:23.046" v="139" actId="20577"/>
          <ac:spMkLst>
            <pc:docMk/>
            <pc:sldMk cId="0" sldId="260"/>
            <ac:spMk id="6" creationId="{00000000-0000-0000-0000-000000000000}"/>
          </ac:spMkLst>
        </pc:spChg>
        <pc:spChg chg="mod">
          <ac:chgData name="信全 陳" userId="77395c219307b7df" providerId="Windows Live" clId="Web-{9559B4A5-2E79-68B5-7B40-44DBAE7B83CD}" dt="2026-06-05T11:03:25.577" v="141" actId="20577"/>
          <ac:spMkLst>
            <pc:docMk/>
            <pc:sldMk cId="0" sldId="260"/>
            <ac:spMk id="9" creationId="{00000000-0000-0000-0000-000000000000}"/>
          </ac:spMkLst>
        </pc:spChg>
      </pc:sldChg>
      <pc:sldChg chg="modSp">
        <pc:chgData name="信全 陳" userId="77395c219307b7df" providerId="Windows Live" clId="Web-{9559B4A5-2E79-68B5-7B40-44DBAE7B83CD}" dt="2026-06-05T10:57:22.456" v="43" actId="20577"/>
        <pc:sldMkLst>
          <pc:docMk/>
          <pc:sldMk cId="0" sldId="261"/>
        </pc:sldMkLst>
        <pc:spChg chg="mod">
          <ac:chgData name="信全 陳" userId="77395c219307b7df" providerId="Windows Live" clId="Web-{9559B4A5-2E79-68B5-7B40-44DBAE7B83CD}" dt="2026-06-05T10:57:22.456" v="43" actId="20577"/>
          <ac:spMkLst>
            <pc:docMk/>
            <pc:sldMk cId="0" sldId="261"/>
            <ac:spMk id="6" creationId="{00000000-0000-0000-0000-000000000000}"/>
          </ac:spMkLst>
        </pc:spChg>
      </pc:sldChg>
      <pc:sldChg chg="modSp">
        <pc:chgData name="信全 陳" userId="77395c219307b7df" providerId="Windows Live" clId="Web-{9559B4A5-2E79-68B5-7B40-44DBAE7B83CD}" dt="2026-06-05T11:03:48.516" v="148" actId="20577"/>
        <pc:sldMkLst>
          <pc:docMk/>
          <pc:sldMk cId="0" sldId="262"/>
        </pc:sldMkLst>
        <pc:spChg chg="mod">
          <ac:chgData name="信全 陳" userId="77395c219307b7df" providerId="Windows Live" clId="Web-{9559B4A5-2E79-68B5-7B40-44DBAE7B83CD}" dt="2026-06-05T11:03:48.516" v="148" actId="20577"/>
          <ac:spMkLst>
            <pc:docMk/>
            <pc:sldMk cId="0" sldId="262"/>
            <ac:spMk id="2" creationId="{00000000-0000-0000-0000-000000000000}"/>
          </ac:spMkLst>
        </pc:spChg>
        <pc:spChg chg="mod">
          <ac:chgData name="信全 陳" userId="77395c219307b7df" providerId="Windows Live" clId="Web-{9559B4A5-2E79-68B5-7B40-44DBAE7B83CD}" dt="2026-06-05T10:57:25.518" v="46" actId="20577"/>
          <ac:spMkLst>
            <pc:docMk/>
            <pc:sldMk cId="0" sldId="262"/>
            <ac:spMk id="6" creationId="{00000000-0000-0000-0000-000000000000}"/>
          </ac:spMkLst>
        </pc:spChg>
        <pc:spChg chg="mod">
          <ac:chgData name="信全 陳" userId="77395c219307b7df" providerId="Windows Live" clId="Web-{9559B4A5-2E79-68B5-7B40-44DBAE7B83CD}" dt="2026-06-05T10:57:29.440" v="51" actId="20577"/>
          <ac:spMkLst>
            <pc:docMk/>
            <pc:sldMk cId="0" sldId="262"/>
            <ac:spMk id="9" creationId="{00000000-0000-0000-0000-000000000000}"/>
          </ac:spMkLst>
        </pc:spChg>
      </pc:sldChg>
      <pc:sldChg chg="modSp">
        <pc:chgData name="信全 陳" userId="77395c219307b7df" providerId="Windows Live" clId="Web-{9559B4A5-2E79-68B5-7B40-44DBAE7B83CD}" dt="2026-06-05T11:04:04.079" v="150" actId="20577"/>
        <pc:sldMkLst>
          <pc:docMk/>
          <pc:sldMk cId="0" sldId="263"/>
        </pc:sldMkLst>
        <pc:spChg chg="mod">
          <ac:chgData name="信全 陳" userId="77395c219307b7df" providerId="Windows Live" clId="Web-{9559B4A5-2E79-68B5-7B40-44DBAE7B83CD}" dt="2026-06-05T11:04:04.079" v="150" actId="20577"/>
          <ac:spMkLst>
            <pc:docMk/>
            <pc:sldMk cId="0" sldId="263"/>
            <ac:spMk id="2" creationId="{00000000-0000-0000-0000-000000000000}"/>
          </ac:spMkLst>
        </pc:spChg>
        <pc:spChg chg="mod">
          <ac:chgData name="信全 陳" userId="77395c219307b7df" providerId="Windows Live" clId="Web-{9559B4A5-2E79-68B5-7B40-44DBAE7B83CD}" dt="2026-06-05T10:57:36.081" v="56" actId="20577"/>
          <ac:spMkLst>
            <pc:docMk/>
            <pc:sldMk cId="0" sldId="263"/>
            <ac:spMk id="6" creationId="{00000000-0000-0000-0000-000000000000}"/>
          </ac:spMkLst>
        </pc:spChg>
        <pc:spChg chg="mod">
          <ac:chgData name="信全 陳" userId="77395c219307b7df" providerId="Windows Live" clId="Web-{9559B4A5-2E79-68B5-7B40-44DBAE7B83CD}" dt="2026-06-05T10:57:40.019" v="61" actId="20577"/>
          <ac:spMkLst>
            <pc:docMk/>
            <pc:sldMk cId="0" sldId="263"/>
            <ac:spMk id="9" creationId="{00000000-0000-0000-0000-000000000000}"/>
          </ac:spMkLst>
        </pc:spChg>
      </pc:sldChg>
      <pc:sldChg chg="modSp">
        <pc:chgData name="信全 陳" userId="77395c219307b7df" providerId="Windows Live" clId="Web-{9559B4A5-2E79-68B5-7B40-44DBAE7B83CD}" dt="2026-06-05T11:04:09.860" v="153" actId="20577"/>
        <pc:sldMkLst>
          <pc:docMk/>
          <pc:sldMk cId="0" sldId="264"/>
        </pc:sldMkLst>
        <pc:spChg chg="mod">
          <ac:chgData name="信全 陳" userId="77395c219307b7df" providerId="Windows Live" clId="Web-{9559B4A5-2E79-68B5-7B40-44DBAE7B83CD}" dt="2026-06-05T11:04:09.860" v="153" actId="20577"/>
          <ac:spMkLst>
            <pc:docMk/>
            <pc:sldMk cId="0" sldId="264"/>
            <ac:spMk id="6" creationId="{00000000-0000-0000-0000-000000000000}"/>
          </ac:spMkLst>
        </pc:spChg>
        <pc:spChg chg="mod">
          <ac:chgData name="信全 陳" userId="77395c219307b7df" providerId="Windows Live" clId="Web-{9559B4A5-2E79-68B5-7B40-44DBAE7B83CD}" dt="2026-06-05T10:57:48.285" v="67" actId="20577"/>
          <ac:spMkLst>
            <pc:docMk/>
            <pc:sldMk cId="0" sldId="264"/>
            <ac:spMk id="9" creationId="{00000000-0000-0000-0000-000000000000}"/>
          </ac:spMkLst>
        </pc:spChg>
      </pc:sldChg>
      <pc:sldChg chg="modSp del">
        <pc:chgData name="信全 陳" userId="77395c219307b7df" providerId="Windows Live" clId="Web-{9559B4A5-2E79-68B5-7B40-44DBAE7B83CD}" dt="2026-06-05T11:05:01.206" v="158"/>
        <pc:sldMkLst>
          <pc:docMk/>
          <pc:sldMk cId="0" sldId="265"/>
        </pc:sldMkLst>
        <pc:spChg chg="mod">
          <ac:chgData name="信全 陳" userId="77395c219307b7df" providerId="Windows Live" clId="Web-{9559B4A5-2E79-68B5-7B40-44DBAE7B83CD}" dt="2026-06-05T11:04:13.579" v="155" actId="20577"/>
          <ac:spMkLst>
            <pc:docMk/>
            <pc:sldMk cId="0" sldId="265"/>
            <ac:spMk id="6" creationId="{00000000-0000-0000-0000-000000000000}"/>
          </ac:spMkLst>
        </pc:spChg>
        <pc:spChg chg="mod">
          <ac:chgData name="信全 陳" userId="77395c219307b7df" providerId="Windows Live" clId="Web-{9559B4A5-2E79-68B5-7B40-44DBAE7B83CD}" dt="2026-06-05T11:04:20.267" v="157" actId="20577"/>
          <ac:spMkLst>
            <pc:docMk/>
            <pc:sldMk cId="0" sldId="265"/>
            <ac:spMk id="9" creationId="{00000000-0000-0000-0000-000000000000}"/>
          </ac:spMkLst>
        </pc:spChg>
        <pc:spChg chg="mod">
          <ac:chgData name="信全 陳" userId="77395c219307b7df" providerId="Windows Live" clId="Web-{9559B4A5-2E79-68B5-7B40-44DBAE7B83CD}" dt="2026-06-05T10:58:18.411" v="82" actId="20577"/>
          <ac:spMkLst>
            <pc:docMk/>
            <pc:sldMk cId="0" sldId="265"/>
            <ac:spMk id="12" creationId="{00000000-0000-0000-0000-000000000000}"/>
          </ac:spMkLst>
        </pc:spChg>
      </pc:sldChg>
      <pc:sldChg chg="modSp">
        <pc:chgData name="信全 陳" userId="77395c219307b7df" providerId="Windows Live" clId="Web-{9559B4A5-2E79-68B5-7B40-44DBAE7B83CD}" dt="2026-06-05T11:05:33.660" v="161" actId="20577"/>
        <pc:sldMkLst>
          <pc:docMk/>
          <pc:sldMk cId="0" sldId="266"/>
        </pc:sldMkLst>
        <pc:spChg chg="mod">
          <ac:chgData name="信全 陳" userId="77395c219307b7df" providerId="Windows Live" clId="Web-{9559B4A5-2E79-68B5-7B40-44DBAE7B83CD}" dt="2026-06-05T10:58:39.458" v="87" actId="20577"/>
          <ac:spMkLst>
            <pc:docMk/>
            <pc:sldMk cId="0" sldId="266"/>
            <ac:spMk id="6" creationId="{00000000-0000-0000-0000-000000000000}"/>
          </ac:spMkLst>
        </pc:spChg>
        <pc:spChg chg="mod">
          <ac:chgData name="信全 陳" userId="77395c219307b7df" providerId="Windows Live" clId="Web-{9559B4A5-2E79-68B5-7B40-44DBAE7B83CD}" dt="2026-06-05T11:05:33.660" v="161" actId="20577"/>
          <ac:spMkLst>
            <pc:docMk/>
            <pc:sldMk cId="0" sldId="266"/>
            <ac:spMk id="9" creationId="{00000000-0000-0000-0000-000000000000}"/>
          </ac:spMkLst>
        </pc:spChg>
      </pc:sldChg>
      <pc:sldChg chg="modSp">
        <pc:chgData name="信全 陳" userId="77395c219307b7df" providerId="Windows Live" clId="Web-{9559B4A5-2E79-68B5-7B40-44DBAE7B83CD}" dt="2026-06-05T11:00:48.588" v="95" actId="20577"/>
        <pc:sldMkLst>
          <pc:docMk/>
          <pc:sldMk cId="0" sldId="267"/>
        </pc:sldMkLst>
        <pc:spChg chg="mod">
          <ac:chgData name="信全 陳" userId="77395c219307b7df" providerId="Windows Live" clId="Web-{9559B4A5-2E79-68B5-7B40-44DBAE7B83CD}" dt="2026-06-05T11:00:48.588" v="95" actId="20577"/>
          <ac:spMkLst>
            <pc:docMk/>
            <pc:sldMk cId="0" sldId="267"/>
            <ac:spMk id="6" creationId="{00000000-0000-0000-0000-000000000000}"/>
          </ac:spMkLst>
        </pc:spChg>
      </pc:sldChg>
      <pc:sldChg chg="modSp">
        <pc:chgData name="信全 陳" userId="77395c219307b7df" providerId="Windows Live" clId="Web-{9559B4A5-2E79-68B5-7B40-44DBAE7B83CD}" dt="2026-06-05T11:05:43.957" v="163" actId="20577"/>
        <pc:sldMkLst>
          <pc:docMk/>
          <pc:sldMk cId="0" sldId="268"/>
        </pc:sldMkLst>
        <pc:spChg chg="mod">
          <ac:chgData name="信全 陳" userId="77395c219307b7df" providerId="Windows Live" clId="Web-{9559B4A5-2E79-68B5-7B40-44DBAE7B83CD}" dt="2026-06-05T11:05:43.957" v="163" actId="20577"/>
          <ac:spMkLst>
            <pc:docMk/>
            <pc:sldMk cId="0" sldId="268"/>
            <ac:spMk id="2" creationId="{00000000-0000-0000-0000-000000000000}"/>
          </ac:spMkLst>
        </pc:spChg>
      </pc:sldChg>
      <pc:sldChg chg="addSp delSp modSp">
        <pc:chgData name="信全 陳" userId="77395c219307b7df" providerId="Windows Live" clId="Web-{9559B4A5-2E79-68B5-7B40-44DBAE7B83CD}" dt="2026-06-05T11:01:34.120" v="116" actId="20577"/>
        <pc:sldMkLst>
          <pc:docMk/>
          <pc:sldMk cId="0" sldId="269"/>
        </pc:sldMkLst>
        <pc:spChg chg="add del mod">
          <ac:chgData name="信全 陳" userId="77395c219307b7df" providerId="Windows Live" clId="Web-{9559B4A5-2E79-68B5-7B40-44DBAE7B83CD}" dt="2026-06-05T11:01:34.120" v="116" actId="20577"/>
          <ac:spMkLst>
            <pc:docMk/>
            <pc:sldMk cId="0" sldId="269"/>
            <ac:spMk id="6" creationId="{00000000-0000-0000-0000-000000000000}"/>
          </ac:spMkLst>
        </pc:spChg>
      </pc:sldChg>
      <pc:sldChg chg="modSp">
        <pc:chgData name="信全 陳" userId="77395c219307b7df" providerId="Windows Live" clId="Web-{9559B4A5-2E79-68B5-7B40-44DBAE7B83CD}" dt="2026-06-05T11:01:46.746" v="118" actId="20577"/>
        <pc:sldMkLst>
          <pc:docMk/>
          <pc:sldMk cId="0" sldId="270"/>
        </pc:sldMkLst>
        <pc:spChg chg="mod">
          <ac:chgData name="信全 陳" userId="77395c219307b7df" providerId="Windows Live" clId="Web-{9559B4A5-2E79-68B5-7B40-44DBAE7B83CD}" dt="2026-06-05T11:01:46.746" v="118" actId="20577"/>
          <ac:spMkLst>
            <pc:docMk/>
            <pc:sldMk cId="0" sldId="270"/>
            <ac:spMk id="2" creationId="{00000000-0000-0000-0000-000000000000}"/>
          </ac:spMkLst>
        </pc:spChg>
      </pc:sldChg>
      <pc:sldChg chg="modSp">
        <pc:chgData name="信全 陳" userId="77395c219307b7df" providerId="Windows Live" clId="Web-{9559B4A5-2E79-68B5-7B40-44DBAE7B83CD}" dt="2026-06-05T11:06:02.270" v="167" actId="20577"/>
        <pc:sldMkLst>
          <pc:docMk/>
          <pc:sldMk cId="0" sldId="271"/>
        </pc:sldMkLst>
        <pc:spChg chg="mod">
          <ac:chgData name="信全 陳" userId="77395c219307b7df" providerId="Windows Live" clId="Web-{9559B4A5-2E79-68B5-7B40-44DBAE7B83CD}" dt="2026-06-05T11:05:59.192" v="165" actId="20577"/>
          <ac:spMkLst>
            <pc:docMk/>
            <pc:sldMk cId="0" sldId="271"/>
            <ac:spMk id="6" creationId="{00000000-0000-0000-0000-000000000000}"/>
          </ac:spMkLst>
        </pc:spChg>
        <pc:spChg chg="mod">
          <ac:chgData name="信全 陳" userId="77395c219307b7df" providerId="Windows Live" clId="Web-{9559B4A5-2E79-68B5-7B40-44DBAE7B83CD}" dt="2026-06-05T11:06:02.270" v="167" actId="20577"/>
          <ac:spMkLst>
            <pc:docMk/>
            <pc:sldMk cId="0" sldId="271"/>
            <ac:spMk id="9" creationId="{00000000-0000-0000-0000-000000000000}"/>
          </ac:spMkLst>
        </pc:spChg>
      </pc:sldChg>
      <pc:sldChg chg="modSp">
        <pc:chgData name="信全 陳" userId="77395c219307b7df" providerId="Windows Live" clId="Web-{9559B4A5-2E79-68B5-7B40-44DBAE7B83CD}" dt="2026-06-05T11:02:10.403" v="132" actId="1076"/>
        <pc:sldMkLst>
          <pc:docMk/>
          <pc:sldMk cId="0" sldId="272"/>
        </pc:sldMkLst>
        <pc:spChg chg="mod">
          <ac:chgData name="信全 陳" userId="77395c219307b7df" providerId="Windows Live" clId="Web-{9559B4A5-2E79-68B5-7B40-44DBAE7B83CD}" dt="2026-06-05T11:02:10.403" v="132" actId="1076"/>
          <ac:spMkLst>
            <pc:docMk/>
            <pc:sldMk cId="0" sldId="272"/>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E31"/>
        </a:solidFill>
        <a:effectLst/>
      </p:bgPr>
    </p:bg>
    <p:spTree>
      <p:nvGrpSpPr>
        <p:cNvPr id="1" name=""/>
        <p:cNvGrpSpPr/>
        <p:nvPr/>
      </p:nvGrpSpPr>
      <p:grpSpPr>
        <a:xfrm>
          <a:off x="0" y="0"/>
          <a:ext cx="0" cy="0"/>
          <a:chOff x="0" y="0"/>
          <a:chExt cx="0" cy="0"/>
        </a:xfrm>
      </p:grpSpPr>
      <p:sp>
        <p:nvSpPr>
          <p:cNvPr id="2" name="Rectangle 1"/>
          <p:cNvSpPr/>
          <p:nvPr/>
        </p:nvSpPr>
        <p:spPr>
          <a:xfrm>
            <a:off x="8686800" y="0"/>
            <a:ext cx="3504895" cy="6858000"/>
          </a:xfrm>
          <a:prstGeom prst="rect">
            <a:avLst/>
          </a:prstGeom>
          <a:solidFill>
            <a:srgbClr val="18263C"/>
          </a:solidFill>
          <a:ln>
            <a:solidFill>
              <a:srgbClr val="18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rot="10800000">
            <a:off x="6858000" y="0"/>
            <a:ext cx="1828800" cy="6858000"/>
          </a:xfrm>
          <a:prstGeom prst="rtTriangle">
            <a:avLst/>
          </a:prstGeom>
          <a:solidFill>
            <a:srgbClr val="18263C"/>
          </a:solidFill>
          <a:ln>
            <a:solidFill>
              <a:srgbClr val="18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008815" y="0"/>
            <a:ext cx="182880" cy="685800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45920"/>
            <a:ext cx="7315200" cy="677108"/>
          </a:xfrm>
          <a:prstGeom prst="rect">
            <a:avLst/>
          </a:prstGeom>
          <a:noFill/>
        </p:spPr>
        <p:txBody>
          <a:bodyPr wrap="square" lIns="0" tIns="0" rIns="0" bIns="0" anchor="t">
            <a:spAutoFit/>
          </a:bodyPr>
          <a:lstStyle/>
          <a:p>
            <a:pPr>
              <a:defRPr sz="3600" b="1">
                <a:solidFill>
                  <a:srgbClr val="FFFFFF"/>
                </a:solidFill>
                <a:latin typeface="微軟正黑體"/>
              </a:defRPr>
            </a:pPr>
            <a:r>
              <a:rPr lang="en-US" altLang="zh-TW" sz="4400">
                <a:latin typeface="Microsoft JhengHei"/>
                <a:ea typeface="Microsoft JhengHei"/>
              </a:rPr>
              <a:t>E</a:t>
            </a:r>
            <a:r>
              <a:rPr lang="en-US" altLang="zh-TW" sz="4400" b="1">
                <a:solidFill>
                  <a:srgbClr val="FFFFFF"/>
                </a:solidFill>
                <a:latin typeface="Microsoft JhengHei"/>
                <a:ea typeface="Microsoft JhengHei"/>
              </a:rPr>
              <a:t>SG</a:t>
            </a:r>
            <a:r>
              <a:rPr lang="zh-TW" altLang="en-US" sz="4400" b="1">
                <a:solidFill>
                  <a:srgbClr val="FFFFFF"/>
                </a:solidFill>
                <a:latin typeface="Microsoft JhengHei"/>
                <a:ea typeface="Microsoft JhengHei"/>
              </a:rPr>
              <a:t> 承諾與證據驗證系統</a:t>
            </a:r>
            <a:endParaRPr lang="zh-TW" altLang="en-US"/>
          </a:p>
        </p:txBody>
      </p:sp>
      <p:sp>
        <p:nvSpPr>
          <p:cNvPr id="6" name="TextBox 5"/>
          <p:cNvSpPr txBox="1"/>
          <p:nvPr/>
        </p:nvSpPr>
        <p:spPr>
          <a:xfrm>
            <a:off x="914400" y="4572000"/>
            <a:ext cx="7315200" cy="738664"/>
          </a:xfrm>
          <a:prstGeom prst="rect">
            <a:avLst/>
          </a:prstGeom>
          <a:noFill/>
        </p:spPr>
        <p:txBody>
          <a:bodyPr wrap="square" lIns="0" tIns="0" rIns="0" bIns="0" anchor="t">
            <a:spAutoFit/>
          </a:bodyPr>
          <a:lstStyle/>
          <a:p>
            <a:pPr>
              <a:defRPr sz="1600">
                <a:solidFill>
                  <a:srgbClr val="F0F0F0"/>
                </a:solidFill>
                <a:latin typeface="微軟正黑體"/>
              </a:defRPr>
            </a:pPr>
            <a:r>
              <a:rPr lang="en-US" sz="2400">
                <a:latin typeface="Microsoft JhengHei"/>
                <a:ea typeface="Microsoft JhengHei"/>
              </a:rPr>
              <a:t>2026 AICUP </a:t>
            </a:r>
            <a:r>
              <a:rPr lang="zh-TW" altLang="en-US" sz="2400">
                <a:latin typeface="Microsoft JhengHei"/>
                <a:ea typeface="Microsoft JhengHei"/>
              </a:rPr>
              <a:t>期</a:t>
            </a:r>
            <a:r>
              <a:rPr lang="zh-TW" altLang="en-US" sz="2400">
                <a:solidFill>
                  <a:srgbClr val="F0F0F0"/>
                </a:solidFill>
                <a:latin typeface="Microsoft JhengHei"/>
                <a:ea typeface="Microsoft JhengHei"/>
              </a:rPr>
              <a:t>末報告</a:t>
            </a:r>
            <a:r>
              <a:rPr lang="en-US" altLang="zh-TW" sz="2400">
                <a:solidFill>
                  <a:srgbClr val="F0F0F0"/>
                </a:solidFill>
                <a:latin typeface="Microsoft JhengHei"/>
                <a:ea typeface="Microsoft JhengHei"/>
              </a:rPr>
              <a:t> </a:t>
            </a:r>
            <a:r>
              <a:rPr lang="af-ZA" altLang="zh-TW" sz="2400">
                <a:solidFill>
                  <a:srgbClr val="F0F0F0"/>
                </a:solidFill>
                <a:latin typeface="Microsoft JhengHei"/>
                <a:ea typeface="Microsoft JhengHei"/>
              </a:rPr>
              <a:t> </a:t>
            </a:r>
            <a:endParaRPr lang="en-US" sz="2400">
              <a:solidFill>
                <a:srgbClr val="000000"/>
              </a:solidFill>
              <a:latin typeface="Microsoft JhengHei"/>
              <a:ea typeface="Microsoft JhengHei"/>
            </a:endParaRPr>
          </a:p>
          <a:p>
            <a:pPr>
              <a:defRPr sz="1300">
                <a:solidFill>
                  <a:srgbClr val="6C757D"/>
                </a:solidFill>
                <a:latin typeface="微軟正黑體"/>
              </a:defRPr>
            </a:pPr>
            <a:r>
              <a:rPr lang="af-ZA" sz="2400">
                <a:solidFill>
                  <a:srgbClr val="F0F0F0"/>
                </a:solidFill>
                <a:latin typeface="Microsoft JhengHei"/>
                <a:ea typeface="Microsoft JhengHei"/>
              </a:rPr>
              <a:t>U11216040</a:t>
            </a:r>
            <a:r>
              <a:rPr lang="zh-TW" altLang="en-US" sz="2400">
                <a:solidFill>
                  <a:srgbClr val="F0F0F0"/>
                </a:solidFill>
                <a:latin typeface="Microsoft JhengHei"/>
                <a:ea typeface="Microsoft JhengHei"/>
              </a:rPr>
              <a:t>陳信全</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430887"/>
          </a:xfrm>
          <a:prstGeom prst="rect">
            <a:avLst/>
          </a:prstGeom>
          <a:noFill/>
        </p:spPr>
        <p:txBody>
          <a:bodyPr wrap="square" lIns="0" tIns="0" rIns="0" bIns="0" anchor="t">
            <a:spAutoFit/>
          </a:bodyPr>
          <a:lstStyle/>
          <a:p>
            <a:pPr>
              <a:defRPr sz="2800" b="1">
                <a:solidFill>
                  <a:srgbClr val="182B49"/>
                </a:solidFill>
                <a:latin typeface="微軟正黑體"/>
              </a:defRPr>
            </a:pPr>
            <a:r>
              <a:rPr dirty="0" err="1"/>
              <a:t>簡報大綱</a:t>
            </a:r>
            <a:r>
              <a:rPr dirty="0"/>
              <a:t> </a:t>
            </a:r>
            <a:endParaRPr lang="zh-TW" altLang="en-US" dirty="0">
              <a:ea typeface="微軟正黑體"/>
            </a:endParaRP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2468880" cy="41148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11480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20240"/>
            <a:ext cx="2194560" cy="1769715"/>
          </a:xfrm>
          <a:prstGeom prst="rect">
            <a:avLst/>
          </a:prstGeom>
          <a:noFill/>
        </p:spPr>
        <p:txBody>
          <a:bodyPr wrap="square" lIns="0" tIns="0" rIns="0" bIns="0" anchor="t">
            <a:spAutoFit/>
          </a:bodyPr>
          <a:lstStyle/>
          <a:p>
            <a:pPr>
              <a:spcAft>
                <a:spcPts val="1400"/>
              </a:spcAft>
              <a:defRPr sz="2000" b="1">
                <a:solidFill>
                  <a:srgbClr val="182B49"/>
                </a:solidFill>
                <a:latin typeface="微軟正黑體"/>
              </a:defRPr>
            </a:pPr>
            <a:r>
              <a:rPr dirty="0"/>
              <a:t>01 </a:t>
            </a:r>
            <a:r>
              <a:t>動機與目的</a:t>
            </a:r>
            <a:endParaRPr lang="zh-TW" dirty="0">
              <a:ea typeface="微軟正黑體"/>
            </a:endParaRPr>
          </a:p>
          <a:p>
            <a:pPr>
              <a:spcAft>
                <a:spcPts val="800"/>
              </a:spcAft>
              <a:defRPr sz="1400">
                <a:latin typeface="微軟正黑體"/>
              </a:defRPr>
            </a:pPr>
            <a:r>
              <a:rPr b="1" dirty="0" err="1">
                <a:solidFill>
                  <a:srgbClr val="182B49"/>
                </a:solidFill>
              </a:rPr>
              <a:t>漂綠質疑：</a:t>
            </a:r>
            <a:r>
              <a:rPr b="0" dirty="0" err="1">
                <a:solidFill>
                  <a:srgbClr val="212529"/>
                </a:solidFill>
              </a:rPr>
              <a:t>很多減碳承諾缺乏實質證據</a:t>
            </a:r>
            <a:r>
              <a:rPr b="0" dirty="0">
                <a:solidFill>
                  <a:srgbClr val="212529"/>
                </a:solidFill>
              </a:rPr>
              <a:t>。</a:t>
            </a:r>
            <a:endParaRPr b="0" dirty="0">
              <a:solidFill>
                <a:srgbClr val="212529"/>
              </a:solidFill>
              <a:ea typeface="微軟正黑體"/>
            </a:endParaRPr>
          </a:p>
          <a:p>
            <a:pPr>
              <a:spcAft>
                <a:spcPts val="800"/>
              </a:spcAft>
              <a:defRPr sz="1400">
                <a:latin typeface="微軟正黑體"/>
              </a:defRPr>
            </a:pPr>
            <a:endParaRPr lang="zh-TW" dirty="0">
              <a:solidFill>
                <a:srgbClr val="212529"/>
              </a:solidFill>
              <a:ea typeface="微軟正黑體"/>
            </a:endParaRPr>
          </a:p>
          <a:p>
            <a:pPr>
              <a:spcAft>
                <a:spcPts val="800"/>
              </a:spcAft>
              <a:defRPr sz="1400">
                <a:latin typeface="微軟正黑體"/>
              </a:defRPr>
            </a:pPr>
            <a:r>
              <a:rPr b="1">
                <a:solidFill>
                  <a:srgbClr val="182B49"/>
                </a:solidFill>
              </a:rPr>
              <a:t>AI 查核點：</a:t>
            </a:r>
            <a:r>
              <a:rPr b="0">
                <a:solidFill>
                  <a:srgbClr val="212529"/>
                </a:solidFill>
              </a:rPr>
              <a:t>承諾、時程、證據、品質4維度。</a:t>
            </a:r>
          </a:p>
        </p:txBody>
      </p:sp>
      <p:sp>
        <p:nvSpPr>
          <p:cNvPr id="7" name="Rounded Rectangle 6"/>
          <p:cNvSpPr/>
          <p:nvPr/>
        </p:nvSpPr>
        <p:spPr>
          <a:xfrm>
            <a:off x="3474720" y="1645920"/>
            <a:ext cx="2468880" cy="41148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0" y="1645920"/>
            <a:ext cx="109728" cy="411480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0" y="1920240"/>
            <a:ext cx="2194560" cy="1769715"/>
          </a:xfrm>
          <a:prstGeom prst="rect">
            <a:avLst/>
          </a:prstGeom>
          <a:noFill/>
        </p:spPr>
        <p:txBody>
          <a:bodyPr wrap="square" lIns="0" tIns="0" rIns="0" bIns="0" anchor="t">
            <a:spAutoFit/>
          </a:bodyPr>
          <a:lstStyle/>
          <a:p>
            <a:pPr>
              <a:spcAft>
                <a:spcPts val="1400"/>
              </a:spcAft>
              <a:defRPr sz="2000" b="1">
                <a:solidFill>
                  <a:srgbClr val="182B49"/>
                </a:solidFill>
                <a:latin typeface="微軟正黑體"/>
              </a:defRPr>
            </a:pPr>
            <a:r>
              <a:rPr dirty="0"/>
              <a:t>02 </a:t>
            </a:r>
            <a:r>
              <a:rPr dirty="0" err="1"/>
              <a:t>學習原理</a:t>
            </a:r>
            <a:endParaRPr lang="zh-TW" dirty="0">
              <a:ea typeface="微軟正黑體"/>
            </a:endParaRPr>
          </a:p>
          <a:p>
            <a:pPr>
              <a:spcAft>
                <a:spcPts val="800"/>
              </a:spcAft>
              <a:defRPr sz="1400">
                <a:latin typeface="微軟正黑體"/>
              </a:defRPr>
            </a:pPr>
            <a:r>
              <a:rPr b="1" dirty="0">
                <a:solidFill>
                  <a:srgbClr val="182B49"/>
                </a:solidFill>
              </a:rPr>
              <a:t>BERT </a:t>
            </a:r>
            <a:r>
              <a:rPr b="1" dirty="0" err="1">
                <a:solidFill>
                  <a:srgbClr val="182B49"/>
                </a:solidFill>
              </a:rPr>
              <a:t>讀書：</a:t>
            </a:r>
            <a:r>
              <a:rPr b="0" dirty="0" err="1">
                <a:solidFill>
                  <a:srgbClr val="212529"/>
                </a:solidFill>
              </a:rPr>
              <a:t>預訓練打底，再進行微調考卷</a:t>
            </a:r>
            <a:r>
              <a:rPr b="0" dirty="0">
                <a:solidFill>
                  <a:srgbClr val="212529"/>
                </a:solidFill>
              </a:rPr>
              <a:t>。</a:t>
            </a:r>
            <a:endParaRPr b="0" dirty="0">
              <a:solidFill>
                <a:srgbClr val="212529"/>
              </a:solidFill>
              <a:ea typeface="微軟正黑體"/>
            </a:endParaRPr>
          </a:p>
          <a:p>
            <a:pPr>
              <a:spcAft>
                <a:spcPts val="800"/>
              </a:spcAft>
              <a:defRPr sz="1400">
                <a:latin typeface="微軟正黑體"/>
              </a:defRPr>
            </a:pPr>
            <a:endParaRPr lang="zh-TW" dirty="0">
              <a:solidFill>
                <a:srgbClr val="212529"/>
              </a:solidFill>
              <a:ea typeface="微軟正黑體"/>
            </a:endParaRPr>
          </a:p>
          <a:p>
            <a:pPr>
              <a:spcAft>
                <a:spcPts val="800"/>
              </a:spcAft>
              <a:defRPr sz="1400">
                <a:latin typeface="微軟正黑體"/>
              </a:defRPr>
            </a:pPr>
            <a:r>
              <a:rPr b="1" dirty="0" err="1">
                <a:solidFill>
                  <a:srgbClr val="182B49"/>
                </a:solidFill>
              </a:rPr>
              <a:t>多任務大腦：</a:t>
            </a:r>
            <a:r>
              <a:rPr b="0" dirty="0" err="1">
                <a:solidFill>
                  <a:srgbClr val="212529"/>
                </a:solidFill>
              </a:rPr>
              <a:t>一個</a:t>
            </a:r>
            <a:r>
              <a:rPr b="0" dirty="0">
                <a:solidFill>
                  <a:srgbClr val="212529"/>
                </a:solidFill>
              </a:rPr>
              <a:t> AI </a:t>
            </a:r>
            <a:r>
              <a:rPr b="0" dirty="0" err="1">
                <a:solidFill>
                  <a:srgbClr val="212529"/>
                </a:solidFill>
              </a:rPr>
              <a:t>大腦回答四個問題</a:t>
            </a:r>
            <a:r>
              <a:rPr b="0" dirty="0">
                <a:solidFill>
                  <a:srgbClr val="212529"/>
                </a:solidFill>
              </a:rPr>
              <a:t>。</a:t>
            </a:r>
            <a:endParaRPr b="0" dirty="0">
              <a:solidFill>
                <a:srgbClr val="212529"/>
              </a:solidFill>
              <a:ea typeface="微軟正黑體"/>
            </a:endParaRPr>
          </a:p>
        </p:txBody>
      </p:sp>
      <p:sp>
        <p:nvSpPr>
          <p:cNvPr id="10" name="Rounded Rectangle 9"/>
          <p:cNvSpPr/>
          <p:nvPr/>
        </p:nvSpPr>
        <p:spPr>
          <a:xfrm>
            <a:off x="6217920" y="1645920"/>
            <a:ext cx="2468880" cy="41148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645920"/>
            <a:ext cx="109728" cy="411480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920240"/>
            <a:ext cx="2194560" cy="2405787"/>
          </a:xfrm>
          <a:prstGeom prst="rect">
            <a:avLst/>
          </a:prstGeom>
          <a:noFill/>
        </p:spPr>
        <p:txBody>
          <a:bodyPr wrap="square" lIns="0" tIns="0" rIns="0" bIns="0" anchor="t">
            <a:spAutoFit/>
          </a:bodyPr>
          <a:lstStyle/>
          <a:p>
            <a:pPr>
              <a:spcAft>
                <a:spcPts val="1400"/>
              </a:spcAft>
              <a:defRPr sz="2000" b="1">
                <a:solidFill>
                  <a:srgbClr val="182B49"/>
                </a:solidFill>
                <a:latin typeface="微軟正黑體"/>
              </a:defRPr>
            </a:pPr>
            <a:r>
              <a:rPr dirty="0"/>
              <a:t>03 </a:t>
            </a:r>
            <a:r>
              <a:rPr dirty="0" err="1"/>
              <a:t>研究與優化</a:t>
            </a:r>
            <a:endParaRPr lang="zh-TW" altLang="en-US" dirty="0" err="1">
              <a:ea typeface="微軟正黑體"/>
            </a:endParaRPr>
          </a:p>
          <a:p>
            <a:pPr>
              <a:spcAft>
                <a:spcPts val="800"/>
              </a:spcAft>
              <a:defRPr sz="1400">
                <a:latin typeface="微軟正黑體"/>
              </a:defRPr>
            </a:pPr>
            <a:r>
              <a:rPr b="1" dirty="0" err="1">
                <a:solidFill>
                  <a:srgbClr val="182B49"/>
                </a:solidFill>
              </a:rPr>
              <a:t>左截斷：</a:t>
            </a:r>
            <a:r>
              <a:rPr b="0" dirty="0" err="1">
                <a:solidFill>
                  <a:srgbClr val="212529"/>
                </a:solidFill>
              </a:rPr>
              <a:t>保留文章後半部關鍵證據</a:t>
            </a:r>
            <a:r>
              <a:rPr b="0" dirty="0">
                <a:solidFill>
                  <a:srgbClr val="212529"/>
                </a:solidFill>
              </a:rPr>
              <a:t>。</a:t>
            </a:r>
            <a:endParaRPr b="0" dirty="0">
              <a:solidFill>
                <a:srgbClr val="212529"/>
              </a:solidFill>
              <a:ea typeface="微軟正黑體"/>
            </a:endParaRPr>
          </a:p>
          <a:p>
            <a:pPr>
              <a:spcAft>
                <a:spcPts val="800"/>
              </a:spcAft>
              <a:defRPr sz="1400">
                <a:latin typeface="微軟正黑體"/>
              </a:defRPr>
            </a:pPr>
            <a:endParaRPr lang="zh-TW" dirty="0">
              <a:solidFill>
                <a:srgbClr val="212529"/>
              </a:solidFill>
            </a:endParaRPr>
          </a:p>
          <a:p>
            <a:pPr>
              <a:spcAft>
                <a:spcPts val="800"/>
              </a:spcAft>
              <a:defRPr sz="1400">
                <a:latin typeface="微軟正黑體"/>
              </a:defRPr>
            </a:pPr>
            <a:r>
              <a:rPr b="1" dirty="0" err="1">
                <a:solidFill>
                  <a:srgbClr val="182B49"/>
                </a:solidFill>
              </a:rPr>
              <a:t>特徵二合一：</a:t>
            </a:r>
            <a:r>
              <a:rPr b="0" dirty="0" err="1">
                <a:solidFill>
                  <a:srgbClr val="212529"/>
                </a:solidFill>
              </a:rPr>
              <a:t>融合</a:t>
            </a:r>
            <a:r>
              <a:rPr b="0" dirty="0">
                <a:solidFill>
                  <a:srgbClr val="212529"/>
                </a:solidFill>
              </a:rPr>
              <a:t> CLS 與 Mean Pooling。</a:t>
            </a:r>
            <a:endParaRPr b="0" dirty="0">
              <a:solidFill>
                <a:srgbClr val="212529"/>
              </a:solidFill>
              <a:ea typeface="微軟正黑體"/>
            </a:endParaRPr>
          </a:p>
          <a:p>
            <a:pPr>
              <a:spcAft>
                <a:spcPts val="800"/>
              </a:spcAft>
              <a:defRPr sz="1400">
                <a:latin typeface="微軟正黑體"/>
              </a:defRPr>
            </a:pPr>
            <a:endParaRPr lang="zh-TW" dirty="0">
              <a:solidFill>
                <a:srgbClr val="212529"/>
              </a:solidFill>
            </a:endParaRPr>
          </a:p>
          <a:p>
            <a:pPr>
              <a:spcAft>
                <a:spcPts val="800"/>
              </a:spcAft>
              <a:defRPr sz="1400">
                <a:latin typeface="微軟正黑體"/>
              </a:defRPr>
            </a:pPr>
            <a:endParaRPr b="0" dirty="0">
              <a:solidFill>
                <a:srgbClr val="212529"/>
              </a:solidFill>
              <a:ea typeface="微軟正黑體"/>
            </a:endParaRPr>
          </a:p>
        </p:txBody>
      </p:sp>
      <p:sp>
        <p:nvSpPr>
          <p:cNvPr id="13" name="Rounded Rectangle 12"/>
          <p:cNvSpPr/>
          <p:nvPr/>
        </p:nvSpPr>
        <p:spPr>
          <a:xfrm>
            <a:off x="8961120" y="1645920"/>
            <a:ext cx="2468880" cy="41148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961120" y="1645920"/>
            <a:ext cx="109728" cy="411480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0" y="1920240"/>
            <a:ext cx="2194560" cy="1769715"/>
          </a:xfrm>
          <a:prstGeom prst="rect">
            <a:avLst/>
          </a:prstGeom>
          <a:noFill/>
        </p:spPr>
        <p:txBody>
          <a:bodyPr wrap="square" lIns="0" tIns="0" rIns="0" bIns="0" anchor="t">
            <a:spAutoFit/>
          </a:bodyPr>
          <a:lstStyle/>
          <a:p>
            <a:pPr>
              <a:spcAft>
                <a:spcPts val="1400"/>
              </a:spcAft>
              <a:defRPr sz="2000" b="1">
                <a:solidFill>
                  <a:srgbClr val="182B49"/>
                </a:solidFill>
                <a:latin typeface="微軟正黑體"/>
              </a:defRPr>
            </a:pPr>
            <a:r>
              <a:rPr dirty="0"/>
              <a:t>04 </a:t>
            </a:r>
            <a:r>
              <a:rPr dirty="0" err="1"/>
              <a:t>實驗與結論</a:t>
            </a:r>
            <a:endParaRPr lang="zh-TW" altLang="en-US" dirty="0" err="1">
              <a:ea typeface="微軟正黑體"/>
            </a:endParaRPr>
          </a:p>
          <a:p>
            <a:pPr>
              <a:spcAft>
                <a:spcPts val="800"/>
              </a:spcAft>
              <a:defRPr sz="1400">
                <a:latin typeface="微軟正黑體"/>
              </a:defRPr>
            </a:pPr>
            <a:r>
              <a:rPr b="1" dirty="0" err="1">
                <a:solidFill>
                  <a:srgbClr val="182B49"/>
                </a:solidFill>
              </a:rPr>
              <a:t>實戰大車拼：</a:t>
            </a:r>
            <a:r>
              <a:rPr b="0" dirty="0" err="1">
                <a:solidFill>
                  <a:srgbClr val="212529"/>
                </a:solidFill>
              </a:rPr>
              <a:t>分數相比</a:t>
            </a:r>
            <a:r>
              <a:rPr b="0" dirty="0">
                <a:solidFill>
                  <a:srgbClr val="212529"/>
                </a:solidFill>
              </a:rPr>
              <a:t> Baseline </a:t>
            </a:r>
            <a:r>
              <a:rPr b="0" dirty="0" err="1">
                <a:solidFill>
                  <a:srgbClr val="212529"/>
                </a:solidFill>
              </a:rPr>
              <a:t>大幅提升</a:t>
            </a:r>
            <a:r>
              <a:rPr b="0" dirty="0">
                <a:solidFill>
                  <a:srgbClr val="212529"/>
                </a:solidFill>
              </a:rPr>
              <a:t> 37%。</a:t>
            </a:r>
            <a:endParaRPr b="0" dirty="0">
              <a:solidFill>
                <a:srgbClr val="212529"/>
              </a:solidFill>
              <a:ea typeface="微軟正黑體"/>
            </a:endParaRPr>
          </a:p>
          <a:p>
            <a:pPr>
              <a:spcAft>
                <a:spcPts val="800"/>
              </a:spcAft>
              <a:defRPr sz="1400">
                <a:latin typeface="微軟正黑體"/>
              </a:defRPr>
            </a:pPr>
            <a:endParaRPr lang="zh-TW" dirty="0">
              <a:solidFill>
                <a:srgbClr val="212529"/>
              </a:solidFill>
            </a:endParaRPr>
          </a:p>
          <a:p>
            <a:pPr>
              <a:spcAft>
                <a:spcPts val="800"/>
              </a:spcAft>
              <a:defRPr sz="1400">
                <a:latin typeface="微軟正黑體"/>
              </a:defRPr>
            </a:pPr>
            <a:r>
              <a:rPr b="1" dirty="0" err="1">
                <a:solidFill>
                  <a:srgbClr val="182B49"/>
                </a:solidFill>
              </a:rPr>
              <a:t>訓練與未來：</a:t>
            </a:r>
            <a:r>
              <a:rPr b="0" dirty="0" err="1">
                <a:solidFill>
                  <a:srgbClr val="212529"/>
                </a:solidFill>
              </a:rPr>
              <a:t>收斂穩定，下一步朝本土與</a:t>
            </a:r>
            <a:r>
              <a:rPr b="0" dirty="0">
                <a:solidFill>
                  <a:srgbClr val="212529"/>
                </a:solidFill>
              </a:rPr>
              <a:t> LLM </a:t>
            </a:r>
            <a:r>
              <a:rPr b="0" dirty="0" err="1">
                <a:solidFill>
                  <a:srgbClr val="212529"/>
                </a:solidFill>
              </a:rPr>
              <a:t>邁進</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01 為什麼要用 AI 查核 ESG 報告？</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傳統稽核與漂綠挑戰</a:t>
            </a:r>
            <a:endParaRPr lang="zh-TW" altLang="en-US" dirty="0" err="1">
              <a:ea typeface="微軟正黑體"/>
            </a:endParaRPr>
          </a:p>
          <a:p>
            <a:pPr>
              <a:spcAft>
                <a:spcPts val="800"/>
              </a:spcAft>
              <a:defRPr sz="1500">
                <a:latin typeface="微軟正黑體"/>
              </a:defRPr>
            </a:pPr>
            <a:r>
              <a:rPr b="1" dirty="0">
                <a:solidFill>
                  <a:srgbClr val="182B49"/>
                </a:solidFill>
              </a:rPr>
              <a:t>• </a:t>
            </a:r>
            <a:r>
              <a:rPr b="1" dirty="0" err="1">
                <a:solidFill>
                  <a:srgbClr val="182B49"/>
                </a:solidFill>
              </a:rPr>
              <a:t>永續承諾氾濫：</a:t>
            </a:r>
            <a:r>
              <a:rPr b="0" dirty="0" err="1">
                <a:solidFill>
                  <a:srgbClr val="212529"/>
                </a:solidFill>
              </a:rPr>
              <a:t>許多企業在永續報告書中寫出宏偉的環保與減碳大夢，但往往缺乏實際數字佐證，引起大眾對「漂綠</a:t>
            </a:r>
            <a:r>
              <a:rPr b="0" dirty="0">
                <a:solidFill>
                  <a:srgbClr val="212529"/>
                </a:solidFill>
              </a:rPr>
              <a:t> (Greenwashing)」</a:t>
            </a:r>
            <a:r>
              <a:rPr b="0" dirty="0" err="1">
                <a:solidFill>
                  <a:srgbClr val="212529"/>
                </a:solidFill>
              </a:rPr>
              <a:t>的質疑</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a:solidFill>
                  <a:srgbClr val="182B49"/>
                </a:solidFill>
              </a:rPr>
              <a:t>• </a:t>
            </a:r>
            <a:r>
              <a:rPr b="1" dirty="0" err="1">
                <a:solidFill>
                  <a:srgbClr val="182B49"/>
                </a:solidFill>
              </a:rPr>
              <a:t>人工查核太累：</a:t>
            </a:r>
            <a:r>
              <a:rPr b="0" dirty="0" err="1">
                <a:solidFill>
                  <a:srgbClr val="212529"/>
                </a:solidFill>
              </a:rPr>
              <a:t>報告書動輒數百頁，字多又複雜。仰賴人工一頁頁核對，不僅極度耗時費力，更難以建立客觀、標準化的審查</a:t>
            </a:r>
            <a:r>
              <a:rPr b="0" dirty="0">
                <a:solidFill>
                  <a:srgbClr val="212529"/>
                </a:solidFill>
              </a:rPr>
              <a:t>。</a:t>
            </a:r>
            <a:endParaRPr b="0" dirty="0">
              <a:solidFill>
                <a:srgbClr val="212529"/>
              </a:solidFill>
              <a:ea typeface="微軟正黑體"/>
            </a:endParaRPr>
          </a:p>
        </p:txBody>
      </p:sp>
      <p:sp>
        <p:nvSpPr>
          <p:cNvPr id="7" name="Rounded Rectangle 6"/>
          <p:cNvSpPr/>
          <p:nvPr/>
        </p:nvSpPr>
        <p:spPr>
          <a:xfrm>
            <a:off x="6217920" y="1645920"/>
            <a:ext cx="521208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2108269"/>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自動查核目的</a:t>
            </a:r>
            <a:endParaRPr lang="zh-TW">
              <a:ea typeface="微軟正黑體"/>
            </a:endParaRPr>
          </a:p>
          <a:p>
            <a:pPr>
              <a:spcAft>
                <a:spcPts val="800"/>
              </a:spcAft>
              <a:defRPr sz="1500">
                <a:latin typeface="微軟正黑體"/>
              </a:defRPr>
            </a:pPr>
            <a:r>
              <a:rPr b="1" dirty="0">
                <a:solidFill>
                  <a:srgbClr val="182B49"/>
                </a:solidFill>
              </a:rPr>
              <a:t>• </a:t>
            </a:r>
            <a:r>
              <a:rPr b="1" dirty="0" err="1">
                <a:solidFill>
                  <a:srgbClr val="182B49"/>
                </a:solidFill>
              </a:rPr>
              <a:t>自動驗證目的：</a:t>
            </a:r>
            <a:r>
              <a:rPr b="0" dirty="0" err="1">
                <a:solidFill>
                  <a:srgbClr val="212529"/>
                </a:solidFill>
              </a:rPr>
              <a:t>開發自動化中文</a:t>
            </a:r>
            <a:r>
              <a:rPr b="0" dirty="0">
                <a:solidFill>
                  <a:srgbClr val="212529"/>
                </a:solidFill>
              </a:rPr>
              <a:t> AI </a:t>
            </a:r>
            <a:r>
              <a:rPr b="0" dirty="0" err="1">
                <a:solidFill>
                  <a:srgbClr val="212529"/>
                </a:solidFill>
              </a:rPr>
              <a:t>審查系統，能從永續報告中自動辨識並快速查驗「減碳承諾」與其對應的「佐證數據品質</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a typeface="微軟正黑體"/>
            </a:endParaRPr>
          </a:p>
          <a:p>
            <a:pPr>
              <a:spcAft>
                <a:spcPts val="800"/>
              </a:spcAft>
              <a:defRPr sz="1500">
                <a:latin typeface="微軟正黑體"/>
              </a:defRPr>
            </a:pPr>
            <a:r>
              <a:rPr b="1" dirty="0">
                <a:solidFill>
                  <a:srgbClr val="182B49"/>
                </a:solidFill>
              </a:rPr>
              <a:t>• </a:t>
            </a:r>
            <a:r>
              <a:rPr b="1" dirty="0" err="1">
                <a:solidFill>
                  <a:srgbClr val="182B49"/>
                </a:solidFill>
              </a:rPr>
              <a:t>提升查核效率：</a:t>
            </a:r>
            <a:r>
              <a:rPr b="0" dirty="0" err="1">
                <a:solidFill>
                  <a:srgbClr val="212529"/>
                </a:solidFill>
              </a:rPr>
              <a:t>藉由自動化分類，幫助分析師與稽核員快速篩選出高漂綠風險或低證據品質的企業報告</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02 AI 幫我們看的 4 個 ESG 檢查點</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2011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201168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1323439"/>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a:t>1. </a:t>
            </a:r>
            <a:r>
              <a:t>承諾狀態</a:t>
            </a:r>
            <a:endParaRPr lang="zh-TW" altLang="en-US">
              <a:ea typeface="微軟正黑體"/>
            </a:endParaRPr>
          </a:p>
          <a:p>
            <a:pPr>
              <a:spcAft>
                <a:spcPts val="800"/>
              </a:spcAft>
              <a:defRPr sz="1300">
                <a:latin typeface="微軟正黑體"/>
              </a:defRPr>
            </a:pPr>
            <a:r>
              <a:rPr b="1" dirty="0">
                <a:solidFill>
                  <a:srgbClr val="182B49"/>
                </a:solidFill>
              </a:rPr>
              <a:t>• </a:t>
            </a:r>
            <a:r>
              <a:rPr b="1" dirty="0" err="1">
                <a:solidFill>
                  <a:srgbClr val="182B49"/>
                </a:solidFill>
              </a:rPr>
              <a:t>任務目標：</a:t>
            </a:r>
            <a:r>
              <a:rPr b="0" dirty="0" err="1">
                <a:solidFill>
                  <a:srgbClr val="212529"/>
                </a:solidFill>
              </a:rPr>
              <a:t>判定文本段落中是否包含企業具體的</a:t>
            </a:r>
            <a:r>
              <a:rPr b="0" dirty="0">
                <a:solidFill>
                  <a:srgbClr val="212529"/>
                </a:solidFill>
              </a:rPr>
              <a:t> ESG </a:t>
            </a:r>
            <a:r>
              <a:rPr b="0" dirty="0" err="1">
                <a:solidFill>
                  <a:srgbClr val="212529"/>
                </a:solidFill>
              </a:rPr>
              <a:t>承諾</a:t>
            </a:r>
            <a:r>
              <a:rPr b="0" dirty="0">
                <a:solidFill>
                  <a:srgbClr val="212529"/>
                </a:solidFill>
              </a:rPr>
              <a:t>。</a:t>
            </a:r>
            <a:endParaRPr b="0" dirty="0">
              <a:solidFill>
                <a:srgbClr val="212529"/>
              </a:solidFill>
              <a:ea typeface="微軟正黑體"/>
            </a:endParaRPr>
          </a:p>
          <a:p>
            <a:pPr>
              <a:spcAft>
                <a:spcPts val="800"/>
              </a:spcAft>
              <a:defRPr sz="1300">
                <a:latin typeface="微軟正黑體"/>
              </a:defRPr>
            </a:pPr>
            <a:endParaRPr lang="zh-TW" dirty="0">
              <a:solidFill>
                <a:srgbClr val="212529"/>
              </a:solidFill>
            </a:endParaRPr>
          </a:p>
          <a:p>
            <a:pPr>
              <a:spcAft>
                <a:spcPts val="800"/>
              </a:spcAft>
              <a:defRPr sz="1300">
                <a:latin typeface="微軟正黑體"/>
              </a:defRPr>
            </a:pPr>
            <a:r>
              <a:rPr b="1" dirty="0">
                <a:solidFill>
                  <a:srgbClr val="182B49"/>
                </a:solidFill>
              </a:rPr>
              <a:t>• </a:t>
            </a:r>
            <a:r>
              <a:rPr b="1" dirty="0" err="1">
                <a:solidFill>
                  <a:srgbClr val="182B49"/>
                </a:solidFill>
              </a:rPr>
              <a:t>任務設計：</a:t>
            </a:r>
            <a:r>
              <a:rPr b="0" dirty="0" err="1">
                <a:solidFill>
                  <a:srgbClr val="212529"/>
                </a:solidFill>
              </a:rPr>
              <a:t>二分類</a:t>
            </a:r>
            <a:r>
              <a:rPr b="0" dirty="0">
                <a:solidFill>
                  <a:srgbClr val="212529"/>
                </a:solidFill>
              </a:rPr>
              <a:t> (是/否) | </a:t>
            </a:r>
            <a:r>
              <a:rPr b="0" dirty="0" err="1">
                <a:solidFill>
                  <a:srgbClr val="212529"/>
                </a:solidFill>
              </a:rPr>
              <a:t>任務權重</a:t>
            </a:r>
            <a:r>
              <a:rPr b="0" dirty="0">
                <a:solidFill>
                  <a:srgbClr val="212529"/>
                </a:solidFill>
              </a:rPr>
              <a:t> 20%</a:t>
            </a:r>
            <a:endParaRPr b="0" dirty="0">
              <a:solidFill>
                <a:srgbClr val="212529"/>
              </a:solidFill>
              <a:ea typeface="微軟正黑體"/>
            </a:endParaRPr>
          </a:p>
        </p:txBody>
      </p:sp>
      <p:sp>
        <p:nvSpPr>
          <p:cNvPr id="7" name="Rounded Rectangle 6"/>
          <p:cNvSpPr/>
          <p:nvPr/>
        </p:nvSpPr>
        <p:spPr>
          <a:xfrm>
            <a:off x="6217920" y="1645920"/>
            <a:ext cx="5212080" cy="2011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201168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1523494"/>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t>2. 驗證時程</a:t>
            </a:r>
            <a:endParaRPr lang="zh-TW" altLang="en-US">
              <a:ea typeface="微軟正黑體"/>
            </a:endParaRPr>
          </a:p>
          <a:p>
            <a:pPr>
              <a:spcAft>
                <a:spcPts val="800"/>
              </a:spcAft>
              <a:defRPr sz="1300">
                <a:latin typeface="微軟正黑體"/>
              </a:defRPr>
            </a:pPr>
            <a:r>
              <a:rPr b="1" dirty="0">
                <a:solidFill>
                  <a:srgbClr val="182B49"/>
                </a:solidFill>
              </a:rPr>
              <a:t>• </a:t>
            </a:r>
            <a:r>
              <a:rPr b="1" dirty="0" err="1">
                <a:solidFill>
                  <a:srgbClr val="182B49"/>
                </a:solidFill>
              </a:rPr>
              <a:t>任務目標：</a:t>
            </a:r>
            <a:r>
              <a:rPr b="0" dirty="0" err="1">
                <a:solidFill>
                  <a:srgbClr val="212529"/>
                </a:solidFill>
              </a:rPr>
              <a:t>辨識該承諾規劃在何時兌現與實現</a:t>
            </a:r>
            <a:r>
              <a:rPr b="0" dirty="0">
                <a:solidFill>
                  <a:srgbClr val="212529"/>
                </a:solidFill>
              </a:rPr>
              <a:t>。</a:t>
            </a:r>
            <a:endParaRPr b="0" dirty="0">
              <a:solidFill>
                <a:srgbClr val="212529"/>
              </a:solidFill>
              <a:ea typeface="微軟正黑體"/>
            </a:endParaRPr>
          </a:p>
          <a:p>
            <a:pPr>
              <a:spcAft>
                <a:spcPts val="800"/>
              </a:spcAft>
              <a:defRPr sz="1300">
                <a:latin typeface="微軟正黑體"/>
              </a:defRPr>
            </a:pPr>
            <a:endParaRPr lang="zh-TW" dirty="0">
              <a:solidFill>
                <a:srgbClr val="212529"/>
              </a:solidFill>
            </a:endParaRPr>
          </a:p>
          <a:p>
            <a:pPr>
              <a:spcAft>
                <a:spcPts val="800"/>
              </a:spcAft>
              <a:defRPr sz="1300">
                <a:latin typeface="微軟正黑體"/>
              </a:defRPr>
            </a:pPr>
            <a:r>
              <a:rPr b="1" dirty="0">
                <a:solidFill>
                  <a:srgbClr val="182B49"/>
                </a:solidFill>
              </a:rPr>
              <a:t>• </a:t>
            </a:r>
            <a:r>
              <a:rPr b="1" dirty="0" err="1">
                <a:solidFill>
                  <a:srgbClr val="182B49"/>
                </a:solidFill>
              </a:rPr>
              <a:t>任務設計：</a:t>
            </a:r>
            <a:r>
              <a:rPr b="0" dirty="0" err="1">
                <a:solidFill>
                  <a:srgbClr val="212529"/>
                </a:solidFill>
              </a:rPr>
              <a:t>五分類</a:t>
            </a:r>
            <a:r>
              <a:rPr b="0" dirty="0">
                <a:solidFill>
                  <a:srgbClr val="212529"/>
                </a:solidFill>
              </a:rPr>
              <a:t> (</a:t>
            </a:r>
            <a:r>
              <a:rPr b="0" dirty="0" err="1">
                <a:solidFill>
                  <a:srgbClr val="212529"/>
                </a:solidFill>
              </a:rPr>
              <a:t>已完成</a:t>
            </a:r>
            <a:r>
              <a:rPr b="0" dirty="0">
                <a:solidFill>
                  <a:srgbClr val="212529"/>
                </a:solidFill>
              </a:rPr>
              <a:t>/2年內/2-5年內/5年以上/NA) | </a:t>
            </a:r>
            <a:r>
              <a:rPr b="0" dirty="0" err="1">
                <a:solidFill>
                  <a:srgbClr val="212529"/>
                </a:solidFill>
              </a:rPr>
              <a:t>任務權重</a:t>
            </a:r>
            <a:r>
              <a:rPr b="0" dirty="0">
                <a:solidFill>
                  <a:srgbClr val="212529"/>
                </a:solidFill>
              </a:rPr>
              <a:t> 15%</a:t>
            </a:r>
            <a:endParaRPr b="0" dirty="0">
              <a:solidFill>
                <a:srgbClr val="212529"/>
              </a:solidFill>
              <a:ea typeface="微軟正黑體"/>
            </a:endParaRPr>
          </a:p>
        </p:txBody>
      </p:sp>
      <p:sp>
        <p:nvSpPr>
          <p:cNvPr id="10" name="Rounded Rectangle 9"/>
          <p:cNvSpPr/>
          <p:nvPr/>
        </p:nvSpPr>
        <p:spPr>
          <a:xfrm>
            <a:off x="731520" y="3931920"/>
            <a:ext cx="5120640" cy="2103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931920"/>
            <a:ext cx="109728" cy="2103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4206240"/>
            <a:ext cx="4572000" cy="1323439"/>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a:t>3. </a:t>
            </a:r>
            <a:r>
              <a:rPr dirty="0" err="1"/>
              <a:t>證據狀態</a:t>
            </a:r>
            <a:r>
              <a:rPr dirty="0"/>
              <a:t> </a:t>
            </a:r>
            <a:endParaRPr lang="zh-TW" dirty="0">
              <a:ea typeface="微軟正黑體"/>
            </a:endParaRPr>
          </a:p>
          <a:p>
            <a:pPr>
              <a:spcAft>
                <a:spcPts val="800"/>
              </a:spcAft>
              <a:defRPr sz="1300">
                <a:latin typeface="微軟正黑體"/>
              </a:defRPr>
            </a:pPr>
            <a:r>
              <a:rPr b="1" dirty="0">
                <a:solidFill>
                  <a:srgbClr val="182B49"/>
                </a:solidFill>
              </a:rPr>
              <a:t>• </a:t>
            </a:r>
            <a:r>
              <a:rPr b="1" dirty="0" err="1">
                <a:solidFill>
                  <a:srgbClr val="182B49"/>
                </a:solidFill>
              </a:rPr>
              <a:t>任務目標：</a:t>
            </a:r>
            <a:r>
              <a:rPr b="0" dirty="0" err="1">
                <a:solidFill>
                  <a:srgbClr val="212529"/>
                </a:solidFill>
              </a:rPr>
              <a:t>分析文本是否包含支持該承諾的具體數據或實績</a:t>
            </a:r>
            <a:r>
              <a:rPr b="0" dirty="0">
                <a:solidFill>
                  <a:srgbClr val="212529"/>
                </a:solidFill>
              </a:rPr>
              <a:t>。</a:t>
            </a:r>
            <a:endParaRPr b="0" dirty="0">
              <a:solidFill>
                <a:srgbClr val="212529"/>
              </a:solidFill>
              <a:ea typeface="微軟正黑體"/>
            </a:endParaRPr>
          </a:p>
          <a:p>
            <a:pPr>
              <a:spcAft>
                <a:spcPts val="800"/>
              </a:spcAft>
              <a:defRPr sz="1300">
                <a:latin typeface="微軟正黑體"/>
              </a:defRPr>
            </a:pPr>
            <a:endParaRPr lang="zh-TW" dirty="0">
              <a:solidFill>
                <a:srgbClr val="212529"/>
              </a:solidFill>
            </a:endParaRPr>
          </a:p>
          <a:p>
            <a:pPr>
              <a:spcAft>
                <a:spcPts val="800"/>
              </a:spcAft>
              <a:defRPr sz="1300">
                <a:latin typeface="微軟正黑體"/>
              </a:defRPr>
            </a:pPr>
            <a:r>
              <a:rPr b="1" dirty="0">
                <a:solidFill>
                  <a:srgbClr val="182B49"/>
                </a:solidFill>
              </a:rPr>
              <a:t>• </a:t>
            </a:r>
            <a:r>
              <a:rPr b="1" dirty="0" err="1">
                <a:solidFill>
                  <a:srgbClr val="182B49"/>
                </a:solidFill>
              </a:rPr>
              <a:t>任務設計：</a:t>
            </a:r>
            <a:r>
              <a:rPr b="0" dirty="0" err="1">
                <a:solidFill>
                  <a:srgbClr val="212529"/>
                </a:solidFill>
              </a:rPr>
              <a:t>三分類</a:t>
            </a:r>
            <a:r>
              <a:rPr b="0" dirty="0">
                <a:solidFill>
                  <a:srgbClr val="212529"/>
                </a:solidFill>
              </a:rPr>
              <a:t> (是/否/</a:t>
            </a:r>
            <a:r>
              <a:rPr b="0" dirty="0" err="1">
                <a:solidFill>
                  <a:srgbClr val="212529"/>
                </a:solidFill>
              </a:rPr>
              <a:t>不適用</a:t>
            </a:r>
            <a:r>
              <a:rPr b="0" dirty="0">
                <a:solidFill>
                  <a:srgbClr val="212529"/>
                </a:solidFill>
              </a:rPr>
              <a:t>) | </a:t>
            </a:r>
            <a:r>
              <a:rPr b="0" dirty="0" err="1">
                <a:solidFill>
                  <a:srgbClr val="212529"/>
                </a:solidFill>
              </a:rPr>
              <a:t>任務權重</a:t>
            </a:r>
            <a:r>
              <a:rPr b="0" dirty="0">
                <a:solidFill>
                  <a:srgbClr val="212529"/>
                </a:solidFill>
              </a:rPr>
              <a:t> 30%</a:t>
            </a:r>
            <a:endParaRPr b="0" dirty="0">
              <a:solidFill>
                <a:srgbClr val="212529"/>
              </a:solidFill>
              <a:ea typeface="微軟正黑體"/>
            </a:endParaRPr>
          </a:p>
        </p:txBody>
      </p:sp>
      <p:sp>
        <p:nvSpPr>
          <p:cNvPr id="13" name="Rounded Rectangle 12"/>
          <p:cNvSpPr/>
          <p:nvPr/>
        </p:nvSpPr>
        <p:spPr>
          <a:xfrm>
            <a:off x="6217920" y="3931920"/>
            <a:ext cx="5212080" cy="2103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3931920"/>
            <a:ext cx="109728" cy="2103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4206240"/>
            <a:ext cx="4663440" cy="1523494"/>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t>4. 證據品質 </a:t>
            </a:r>
            <a:endParaRPr lang="zh-TW" altLang="en-US">
              <a:ea typeface="微軟正黑體"/>
            </a:endParaRPr>
          </a:p>
          <a:p>
            <a:pPr>
              <a:spcAft>
                <a:spcPts val="800"/>
              </a:spcAft>
              <a:defRPr sz="1300">
                <a:latin typeface="微軟正黑體"/>
              </a:defRPr>
            </a:pPr>
            <a:r>
              <a:rPr b="1" dirty="0">
                <a:solidFill>
                  <a:srgbClr val="182B49"/>
                </a:solidFill>
              </a:rPr>
              <a:t>• </a:t>
            </a:r>
            <a:r>
              <a:rPr b="1" dirty="0" err="1">
                <a:solidFill>
                  <a:srgbClr val="182B49"/>
                </a:solidFill>
              </a:rPr>
              <a:t>任務目標：</a:t>
            </a:r>
            <a:r>
              <a:rPr b="0" dirty="0" err="1">
                <a:solidFill>
                  <a:srgbClr val="212529"/>
                </a:solidFill>
              </a:rPr>
              <a:t>評估所提佐證證據的可信度、清晰度與真實性</a:t>
            </a:r>
            <a:r>
              <a:rPr b="0" dirty="0">
                <a:solidFill>
                  <a:srgbClr val="212529"/>
                </a:solidFill>
              </a:rPr>
              <a:t>。</a:t>
            </a:r>
            <a:endParaRPr b="0" dirty="0">
              <a:solidFill>
                <a:srgbClr val="212529"/>
              </a:solidFill>
              <a:ea typeface="微軟正黑體"/>
            </a:endParaRPr>
          </a:p>
          <a:p>
            <a:pPr>
              <a:spcAft>
                <a:spcPts val="800"/>
              </a:spcAft>
              <a:defRPr sz="1300">
                <a:latin typeface="微軟正黑體"/>
              </a:defRPr>
            </a:pPr>
            <a:endParaRPr lang="zh-TW" dirty="0">
              <a:solidFill>
                <a:srgbClr val="212529"/>
              </a:solidFill>
            </a:endParaRPr>
          </a:p>
          <a:p>
            <a:pPr>
              <a:spcAft>
                <a:spcPts val="800"/>
              </a:spcAft>
              <a:defRPr sz="1300">
                <a:latin typeface="微軟正黑體"/>
              </a:defRPr>
            </a:pPr>
            <a:r>
              <a:rPr b="1" dirty="0">
                <a:solidFill>
                  <a:srgbClr val="182B49"/>
                </a:solidFill>
              </a:rPr>
              <a:t>• </a:t>
            </a:r>
            <a:r>
              <a:rPr b="1" dirty="0" err="1">
                <a:solidFill>
                  <a:srgbClr val="182B49"/>
                </a:solidFill>
              </a:rPr>
              <a:t>任務設計：</a:t>
            </a:r>
            <a:r>
              <a:rPr b="0" dirty="0" err="1">
                <a:solidFill>
                  <a:srgbClr val="212529"/>
                </a:solidFill>
              </a:rPr>
              <a:t>四分類</a:t>
            </a:r>
            <a:r>
              <a:rPr b="0" dirty="0">
                <a:solidFill>
                  <a:srgbClr val="212529"/>
                </a:solidFill>
              </a:rPr>
              <a:t> (</a:t>
            </a:r>
            <a:r>
              <a:rPr b="0" dirty="0" err="1">
                <a:solidFill>
                  <a:srgbClr val="212529"/>
                </a:solidFill>
              </a:rPr>
              <a:t>清晰</a:t>
            </a:r>
            <a:r>
              <a:rPr b="0" dirty="0">
                <a:solidFill>
                  <a:srgbClr val="212529"/>
                </a:solidFill>
              </a:rPr>
              <a:t>/</a:t>
            </a:r>
            <a:r>
              <a:rPr b="0" dirty="0" err="1">
                <a:solidFill>
                  <a:srgbClr val="212529"/>
                </a:solidFill>
              </a:rPr>
              <a:t>不清晰</a:t>
            </a:r>
            <a:r>
              <a:rPr b="0" dirty="0">
                <a:solidFill>
                  <a:srgbClr val="212529"/>
                </a:solidFill>
              </a:rPr>
              <a:t>/</a:t>
            </a:r>
            <a:r>
              <a:rPr b="0" dirty="0" err="1">
                <a:solidFill>
                  <a:srgbClr val="212529"/>
                </a:solidFill>
              </a:rPr>
              <a:t>具誤導性</a:t>
            </a:r>
            <a:r>
              <a:rPr b="0" dirty="0">
                <a:solidFill>
                  <a:srgbClr val="212529"/>
                </a:solidFill>
              </a:rPr>
              <a:t>/NA) | </a:t>
            </a:r>
            <a:r>
              <a:rPr b="0" dirty="0" err="1">
                <a:solidFill>
                  <a:srgbClr val="212529"/>
                </a:solidFill>
              </a:rPr>
              <a:t>任務權重</a:t>
            </a:r>
            <a:r>
              <a:rPr b="0" dirty="0">
                <a:solidFill>
                  <a:srgbClr val="212529"/>
                </a:solidFill>
              </a:rPr>
              <a:t> 35%</a:t>
            </a:r>
            <a:endParaRPr b="0" dirty="0">
              <a:solidFill>
                <a:srgbClr val="212529"/>
              </a:solidFill>
              <a:ea typeface="微軟正黑體"/>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430887"/>
          </a:xfrm>
          <a:prstGeom prst="rect">
            <a:avLst/>
          </a:prstGeom>
          <a:noFill/>
        </p:spPr>
        <p:txBody>
          <a:bodyPr wrap="square" lIns="0" tIns="0" rIns="0" bIns="0" anchor="t">
            <a:spAutoFit/>
          </a:bodyPr>
          <a:lstStyle/>
          <a:p>
            <a:pPr>
              <a:defRPr sz="2800" b="1">
                <a:solidFill>
                  <a:srgbClr val="182B49"/>
                </a:solidFill>
                <a:latin typeface="微軟正黑體"/>
              </a:defRPr>
            </a:pPr>
            <a:r>
              <a:rPr dirty="0"/>
              <a:t>03 AI </a:t>
            </a:r>
            <a:r>
              <a:t>是怎麼學習的</a:t>
            </a:r>
            <a:r>
              <a:rPr lang="zh-TW"/>
              <a:t>？</a:t>
            </a:r>
            <a:endParaRPr lang="zh-TW" altLang="en-US" dirty="0">
              <a:ea typeface="微軟正黑體"/>
            </a:endParaRP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t>第一步：預訓練 </a:t>
            </a:r>
            <a:endParaRPr lang="zh-TW">
              <a:ea typeface="微軟正黑體"/>
            </a:endParaRPr>
          </a:p>
          <a:p>
            <a:pPr>
              <a:spcAft>
                <a:spcPts val="800"/>
              </a:spcAft>
              <a:defRPr sz="1500">
                <a:latin typeface="微軟正黑體"/>
              </a:defRPr>
            </a:pPr>
            <a:r>
              <a:rPr b="1" dirty="0" err="1">
                <a:solidFill>
                  <a:srgbClr val="182B49"/>
                </a:solidFill>
              </a:rPr>
              <a:t>圖書館廣泛閱讀：</a:t>
            </a:r>
            <a:r>
              <a:rPr b="0" dirty="0" err="1">
                <a:solidFill>
                  <a:srgbClr val="212529"/>
                </a:solidFill>
              </a:rPr>
              <a:t>AI</a:t>
            </a:r>
            <a:r>
              <a:rPr b="0" dirty="0">
                <a:solidFill>
                  <a:srgbClr val="212529"/>
                </a:solidFill>
              </a:rPr>
              <a:t> </a:t>
            </a:r>
            <a:r>
              <a:rPr b="0" dirty="0" err="1">
                <a:solidFill>
                  <a:srgbClr val="212529"/>
                </a:solidFill>
              </a:rPr>
              <a:t>大腦先在網路上閱讀海量無標籤的中文文章與書籍，學習中文的基本語意、文法、造句規律。這階段叫「預訓練</a:t>
            </a:r>
            <a:r>
              <a:rPr b="0" dirty="0">
                <a:solidFill>
                  <a:srgbClr val="212529"/>
                </a:solidFill>
              </a:rPr>
              <a:t>」。</a:t>
            </a: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全詞遮罩</a:t>
            </a:r>
            <a:r>
              <a:rPr b="1" dirty="0">
                <a:solidFill>
                  <a:srgbClr val="182B49"/>
                </a:solidFill>
              </a:rPr>
              <a:t> (WWM) </a:t>
            </a:r>
            <a:r>
              <a:rPr b="1" dirty="0" err="1">
                <a:solidFill>
                  <a:srgbClr val="182B49"/>
                </a:solidFill>
              </a:rPr>
              <a:t>技術：</a:t>
            </a:r>
            <a:r>
              <a:rPr b="0" dirty="0" err="1">
                <a:solidFill>
                  <a:srgbClr val="212529"/>
                </a:solidFill>
              </a:rPr>
              <a:t>不只遮住單一字元，而是把完整的詞彙（如「碳中和</a:t>
            </a:r>
            <a:r>
              <a:rPr b="0" dirty="0">
                <a:solidFill>
                  <a:srgbClr val="212529"/>
                </a:solidFill>
              </a:rPr>
              <a:t>」）</a:t>
            </a:r>
            <a:r>
              <a:rPr b="0" dirty="0" err="1">
                <a:solidFill>
                  <a:srgbClr val="212529"/>
                </a:solidFill>
              </a:rPr>
              <a:t>遮起來讓</a:t>
            </a:r>
            <a:r>
              <a:rPr b="0" dirty="0">
                <a:solidFill>
                  <a:srgbClr val="212529"/>
                </a:solidFill>
              </a:rPr>
              <a:t> AI </a:t>
            </a:r>
            <a:r>
              <a:rPr b="0" dirty="0" err="1">
                <a:solidFill>
                  <a:srgbClr val="212529"/>
                </a:solidFill>
              </a:rPr>
              <a:t>猜，使其更懂中文實體與詞意</a:t>
            </a:r>
            <a:r>
              <a:rPr b="0" dirty="0">
                <a:solidFill>
                  <a:srgbClr val="212529"/>
                </a:solidFill>
              </a:rPr>
              <a:t>。</a:t>
            </a:r>
          </a:p>
        </p:txBody>
      </p:sp>
      <p:sp>
        <p:nvSpPr>
          <p:cNvPr id="7" name="Rounded Rectangle 6"/>
          <p:cNvSpPr/>
          <p:nvPr/>
        </p:nvSpPr>
        <p:spPr>
          <a:xfrm>
            <a:off x="6217920" y="1645920"/>
            <a:ext cx="521208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t>第二步：微調 </a:t>
            </a:r>
            <a:endParaRPr lang="zh-TW">
              <a:ea typeface="微軟正黑體"/>
            </a:endParaRPr>
          </a:p>
          <a:p>
            <a:pPr>
              <a:spcAft>
                <a:spcPts val="800"/>
              </a:spcAft>
              <a:defRPr sz="1500">
                <a:latin typeface="微軟正黑體"/>
              </a:defRPr>
            </a:pPr>
            <a:r>
              <a:rPr b="1" dirty="0" err="1">
                <a:solidFill>
                  <a:srgbClr val="182B49"/>
                </a:solidFill>
              </a:rPr>
              <a:t>針對考卷重點複習：</a:t>
            </a:r>
            <a:r>
              <a:rPr b="0" dirty="0" err="1">
                <a:solidFill>
                  <a:srgbClr val="212529"/>
                </a:solidFill>
              </a:rPr>
              <a:t>一旦學會讀書後，我們在</a:t>
            </a:r>
            <a:r>
              <a:rPr b="0" dirty="0">
                <a:solidFill>
                  <a:srgbClr val="212529"/>
                </a:solidFill>
              </a:rPr>
              <a:t> AI </a:t>
            </a:r>
            <a:r>
              <a:rPr b="0" dirty="0" err="1">
                <a:solidFill>
                  <a:srgbClr val="212529"/>
                </a:solidFill>
              </a:rPr>
              <a:t>上方加裝簡單的預測層，使用特定任務的標記資料（如</a:t>
            </a:r>
            <a:r>
              <a:rPr b="0" dirty="0">
                <a:solidFill>
                  <a:srgbClr val="212529"/>
                </a:solidFill>
              </a:rPr>
              <a:t> ESG </a:t>
            </a:r>
            <a:r>
              <a:rPr b="0" dirty="0" err="1">
                <a:solidFill>
                  <a:srgbClr val="212529"/>
                </a:solidFill>
              </a:rPr>
              <a:t>考卷）進行訓練。這階段叫「微調</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一腦多用</a:t>
            </a:r>
            <a:r>
              <a:rPr b="1" dirty="0">
                <a:solidFill>
                  <a:srgbClr val="182B49"/>
                </a:solidFill>
              </a:rPr>
              <a:t> (Multi-Task)：</a:t>
            </a:r>
            <a:r>
              <a:rPr b="0" dirty="0" err="1">
                <a:solidFill>
                  <a:srgbClr val="212529"/>
                </a:solidFill>
              </a:rPr>
              <a:t>讓同一個</a:t>
            </a:r>
            <a:r>
              <a:rPr b="0" dirty="0">
                <a:solidFill>
                  <a:srgbClr val="212529"/>
                </a:solidFill>
              </a:rPr>
              <a:t> AI </a:t>
            </a:r>
            <a:r>
              <a:rPr b="0" dirty="0" err="1">
                <a:solidFill>
                  <a:srgbClr val="212529"/>
                </a:solidFill>
              </a:rPr>
              <a:t>大腦同時微調四個子任務。不僅能節省硬體計算資源，還能共享不同問題間的邏輯關聯，提升效果</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04 研究方法 - 文本長度分佈</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48640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937760" cy="3005951"/>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長度統計與長句覆蓋</a:t>
            </a:r>
            <a:endParaRPr lang="zh-TW" altLang="en-US" dirty="0" err="1">
              <a:ea typeface="微軟正黑體"/>
            </a:endParaRPr>
          </a:p>
          <a:p>
            <a:pPr>
              <a:spcAft>
                <a:spcPts val="800"/>
              </a:spcAft>
              <a:defRPr sz="1500">
                <a:latin typeface="微軟正黑體"/>
              </a:defRPr>
            </a:pPr>
            <a:r>
              <a:rPr b="1" dirty="0" err="1">
                <a:solidFill>
                  <a:srgbClr val="182B49"/>
                </a:solidFill>
              </a:rPr>
              <a:t>長度集中區間：</a:t>
            </a:r>
            <a:r>
              <a:rPr b="0" dirty="0" err="1">
                <a:solidFill>
                  <a:srgbClr val="212529"/>
                </a:solidFill>
              </a:rPr>
              <a:t>統計數據集中的</a:t>
            </a:r>
            <a:r>
              <a:rPr b="0" dirty="0">
                <a:solidFill>
                  <a:srgbClr val="212529"/>
                </a:solidFill>
              </a:rPr>
              <a:t> 1,000 </a:t>
            </a:r>
            <a:r>
              <a:rPr b="0" dirty="0" err="1">
                <a:solidFill>
                  <a:srgbClr val="212529"/>
                </a:solidFill>
              </a:rPr>
              <a:t>筆永續報告段落，發現大部份的段落長度集中在</a:t>
            </a:r>
            <a:r>
              <a:rPr b="0" dirty="0">
                <a:solidFill>
                  <a:srgbClr val="212529"/>
                </a:solidFill>
              </a:rPr>
              <a:t> 300 到 400 </a:t>
            </a:r>
            <a:r>
              <a:rPr b="0" dirty="0" err="1">
                <a:solidFill>
                  <a:srgbClr val="212529"/>
                </a:solidFill>
              </a:rPr>
              <a:t>字之間</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長句的比例：</a:t>
            </a:r>
            <a:r>
              <a:rPr b="0" dirty="0" err="1">
                <a:solidFill>
                  <a:srgbClr val="212529"/>
                </a:solidFill>
              </a:rPr>
              <a:t>字數超過</a:t>
            </a:r>
            <a:r>
              <a:rPr b="0" dirty="0">
                <a:solidFill>
                  <a:srgbClr val="212529"/>
                </a:solidFill>
              </a:rPr>
              <a:t> 512 </a:t>
            </a:r>
            <a:r>
              <a:rPr b="0" dirty="0" err="1">
                <a:solidFill>
                  <a:srgbClr val="212529"/>
                </a:solidFill>
              </a:rPr>
              <a:t>的長句在資料集中非常罕見，合計只有</a:t>
            </a:r>
            <a:r>
              <a:rPr b="0" dirty="0">
                <a:solidFill>
                  <a:srgbClr val="212529"/>
                </a:solidFill>
              </a:rPr>
              <a:t> 17 </a:t>
            </a:r>
            <a:r>
              <a:rPr b="0" dirty="0" err="1">
                <a:solidFill>
                  <a:srgbClr val="212529"/>
                </a:solidFill>
              </a:rPr>
              <a:t>筆，僅佔整體的</a:t>
            </a:r>
            <a:r>
              <a:rPr b="0" dirty="0">
                <a:solidFill>
                  <a:srgbClr val="212529"/>
                </a:solidFill>
              </a:rPr>
              <a:t> 1.7%。</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最大長度設定：</a:t>
            </a:r>
            <a:r>
              <a:rPr b="0" dirty="0" err="1">
                <a:solidFill>
                  <a:srgbClr val="212529"/>
                </a:solidFill>
              </a:rPr>
              <a:t>將</a:t>
            </a:r>
            <a:r>
              <a:rPr b="0" dirty="0">
                <a:solidFill>
                  <a:srgbClr val="212529"/>
                </a:solidFill>
              </a:rPr>
              <a:t> AI </a:t>
            </a:r>
            <a:r>
              <a:rPr b="0" dirty="0" err="1">
                <a:solidFill>
                  <a:srgbClr val="212529"/>
                </a:solidFill>
              </a:rPr>
              <a:t>的閱讀上限（MAX_LEN）設為</a:t>
            </a:r>
            <a:r>
              <a:rPr b="0" dirty="0">
                <a:solidFill>
                  <a:srgbClr val="212529"/>
                </a:solidFill>
              </a:rPr>
              <a:t> 512，即可完整覆蓋 98.3% </a:t>
            </a:r>
            <a:r>
              <a:rPr b="0" dirty="0" err="1">
                <a:solidFill>
                  <a:srgbClr val="212529"/>
                </a:solidFill>
              </a:rPr>
              <a:t>的文本段落。這保證了長句後半段的細節和證據不被截斷，能有效拉升評分</a:t>
            </a:r>
            <a:r>
              <a:rPr b="0" dirty="0">
                <a:solidFill>
                  <a:srgbClr val="212529"/>
                </a:solidFill>
              </a:rPr>
              <a:t>。</a:t>
            </a:r>
            <a:endParaRPr b="0" dirty="0">
              <a:solidFill>
                <a:srgbClr val="212529"/>
              </a:solidFill>
              <a:ea typeface="微軟正黑體"/>
            </a:endParaRPr>
          </a:p>
        </p:txBody>
      </p:sp>
      <p:pic>
        <p:nvPicPr>
          <p:cNvPr id="7" name="Picture 6" descr="text_length_distribution.png"/>
          <p:cNvPicPr>
            <a:picLocks noChangeAspect="1"/>
          </p:cNvPicPr>
          <p:nvPr/>
        </p:nvPicPr>
        <p:blipFill>
          <a:blip r:embed="rId2"/>
          <a:stretch>
            <a:fillRect/>
          </a:stretch>
        </p:blipFill>
        <p:spPr>
          <a:xfrm>
            <a:off x="6473246" y="1712180"/>
            <a:ext cx="5586232" cy="43228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430887"/>
          </a:xfrm>
          <a:prstGeom prst="rect">
            <a:avLst/>
          </a:prstGeom>
          <a:noFill/>
        </p:spPr>
        <p:txBody>
          <a:bodyPr wrap="square" lIns="0" tIns="0" rIns="0" bIns="0" anchor="t">
            <a:spAutoFit/>
          </a:bodyPr>
          <a:lstStyle/>
          <a:p>
            <a:pPr>
              <a:defRPr sz="2800" b="1">
                <a:solidFill>
                  <a:srgbClr val="182B49"/>
                </a:solidFill>
                <a:latin typeface="微軟正黑體"/>
              </a:defRPr>
            </a:pPr>
            <a:r>
              <a:rPr dirty="0"/>
              <a:t>05 </a:t>
            </a:r>
            <a:r>
              <a:rPr dirty="0" err="1"/>
              <a:t>研究方法</a:t>
            </a:r>
            <a:r>
              <a:rPr dirty="0"/>
              <a:t> - </a:t>
            </a:r>
            <a:r>
              <a:rPr lang="zh-TW"/>
              <a:t>左截斷的妙用</a:t>
            </a:r>
            <a:endParaRPr lang="zh-TW" altLang="en-US" dirty="0">
              <a:ea typeface="微軟正黑體"/>
            </a:endParaRP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a:t>【</a:t>
            </a:r>
            <a:r>
              <a:rPr dirty="0" err="1"/>
              <a:t>問】為什麼不砍後半部</a:t>
            </a:r>
            <a:r>
              <a:rPr dirty="0"/>
              <a:t>？</a:t>
            </a:r>
          </a:p>
          <a:p>
            <a:pPr>
              <a:spcAft>
                <a:spcPts val="800"/>
              </a:spcAft>
              <a:defRPr sz="1500">
                <a:latin typeface="微軟正黑體"/>
              </a:defRPr>
            </a:pPr>
            <a:r>
              <a:rPr b="1" dirty="0" err="1">
                <a:solidFill>
                  <a:srgbClr val="182B49"/>
                </a:solidFill>
              </a:rPr>
              <a:t>預設是右截斷</a:t>
            </a:r>
            <a:r>
              <a:rPr b="1" dirty="0">
                <a:solidFill>
                  <a:srgbClr val="182B49"/>
                </a:solidFill>
              </a:rPr>
              <a:t> (</a:t>
            </a:r>
            <a:r>
              <a:rPr b="1" dirty="0" err="1">
                <a:solidFill>
                  <a:srgbClr val="182B49"/>
                </a:solidFill>
              </a:rPr>
              <a:t>砍尾巴</a:t>
            </a:r>
            <a:r>
              <a:rPr b="1" dirty="0">
                <a:solidFill>
                  <a:srgbClr val="182B49"/>
                </a:solidFill>
              </a:rPr>
              <a:t>)：</a:t>
            </a:r>
            <a:r>
              <a:rPr b="0" dirty="0" err="1">
                <a:solidFill>
                  <a:srgbClr val="212529"/>
                </a:solidFill>
              </a:rPr>
              <a:t>當段落字數超過</a:t>
            </a:r>
            <a:r>
              <a:rPr b="0" dirty="0">
                <a:solidFill>
                  <a:srgbClr val="212529"/>
                </a:solidFill>
              </a:rPr>
              <a:t> 512 </a:t>
            </a:r>
            <a:r>
              <a:rPr b="0" dirty="0" err="1">
                <a:solidFill>
                  <a:srgbClr val="212529"/>
                </a:solidFill>
              </a:rPr>
              <a:t>時，預設的</a:t>
            </a:r>
            <a:r>
              <a:rPr b="0" dirty="0">
                <a:solidFill>
                  <a:srgbClr val="212529"/>
                </a:solidFill>
              </a:rPr>
              <a:t> truncation </a:t>
            </a:r>
            <a:r>
              <a:rPr b="0" dirty="0" err="1">
                <a:solidFill>
                  <a:srgbClr val="212529"/>
                </a:solidFill>
              </a:rPr>
              <a:t>會直接把超過部分的「結尾」砍掉，保留開頭</a:t>
            </a:r>
            <a:r>
              <a:rPr b="0" dirty="0">
                <a:solidFill>
                  <a:srgbClr val="212529"/>
                </a:solidFill>
              </a:rPr>
              <a:t>。</a:t>
            </a:r>
          </a:p>
          <a:p>
            <a:pPr>
              <a:spcAft>
                <a:spcPts val="800"/>
              </a:spcAft>
              <a:defRPr sz="1500">
                <a:latin typeface="微軟正黑體"/>
              </a:defRPr>
            </a:pPr>
            <a:endParaRPr lang="zh-TW" dirty="0">
              <a:solidFill>
                <a:srgbClr val="212529"/>
              </a:solidFill>
              <a:ea typeface="微軟正黑體"/>
            </a:endParaRPr>
          </a:p>
          <a:p>
            <a:pPr>
              <a:spcAft>
                <a:spcPts val="800"/>
              </a:spcAft>
              <a:defRPr sz="1500">
                <a:latin typeface="微軟正黑體"/>
              </a:defRPr>
            </a:pPr>
            <a:r>
              <a:rPr b="1" dirty="0" err="1">
                <a:solidFill>
                  <a:srgbClr val="182B49"/>
                </a:solidFill>
              </a:rPr>
              <a:t>為什麼砍尾巴很危險？</a:t>
            </a:r>
            <a:r>
              <a:rPr b="0" dirty="0" err="1">
                <a:solidFill>
                  <a:srgbClr val="212529"/>
                </a:solidFill>
              </a:rPr>
              <a:t>在</a:t>
            </a:r>
            <a:r>
              <a:rPr b="0" dirty="0">
                <a:solidFill>
                  <a:srgbClr val="212529"/>
                </a:solidFill>
              </a:rPr>
              <a:t> ESG </a:t>
            </a:r>
            <a:r>
              <a:rPr b="0" dirty="0" err="1">
                <a:solidFill>
                  <a:srgbClr val="212529"/>
                </a:solidFill>
              </a:rPr>
              <a:t>的長文本中，開頭通常是大量的商業鋪陳、背景介紹和宏大的理想宣告，並不包含實質檢驗特徵</a:t>
            </a:r>
            <a:r>
              <a:rPr b="0" dirty="0">
                <a:solidFill>
                  <a:srgbClr val="212529"/>
                </a:solidFill>
              </a:rPr>
              <a:t>。</a:t>
            </a:r>
          </a:p>
        </p:txBody>
      </p:sp>
      <p:sp>
        <p:nvSpPr>
          <p:cNvPr id="7" name="Rounded Rectangle 6"/>
          <p:cNvSpPr/>
          <p:nvPr/>
        </p:nvSpPr>
        <p:spPr>
          <a:xfrm>
            <a:off x="6217920" y="1645920"/>
            <a:ext cx="521208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3236784"/>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a:t>【</a:t>
            </a:r>
            <a:r>
              <a:rPr dirty="0" err="1"/>
              <a:t>答】因為具體證據都在結尾</a:t>
            </a:r>
            <a:r>
              <a:rPr dirty="0"/>
              <a:t>！</a:t>
            </a:r>
          </a:p>
          <a:p>
            <a:pPr>
              <a:spcAft>
                <a:spcPts val="800"/>
              </a:spcAft>
              <a:defRPr sz="1500">
                <a:latin typeface="微軟正黑體"/>
              </a:defRPr>
            </a:pPr>
            <a:r>
              <a:rPr b="1" dirty="0" err="1">
                <a:solidFill>
                  <a:srgbClr val="182B49"/>
                </a:solidFill>
              </a:rPr>
              <a:t>改為左截斷</a:t>
            </a:r>
            <a:r>
              <a:rPr b="1" dirty="0">
                <a:solidFill>
                  <a:srgbClr val="182B49"/>
                </a:solidFill>
              </a:rPr>
              <a:t> (</a:t>
            </a:r>
            <a:r>
              <a:rPr b="1" dirty="0" err="1">
                <a:solidFill>
                  <a:srgbClr val="182B49"/>
                </a:solidFill>
              </a:rPr>
              <a:t>砍頭留尾</a:t>
            </a:r>
            <a:r>
              <a:rPr b="1" dirty="0">
                <a:solidFill>
                  <a:srgbClr val="182B49"/>
                </a:solidFill>
              </a:rPr>
              <a:t>)：</a:t>
            </a:r>
            <a:r>
              <a:rPr b="0" dirty="0" err="1">
                <a:solidFill>
                  <a:srgbClr val="212529"/>
                </a:solidFill>
              </a:rPr>
              <a:t>我們在設定</a:t>
            </a:r>
            <a:r>
              <a:rPr b="0" dirty="0">
                <a:solidFill>
                  <a:srgbClr val="212529"/>
                </a:solidFill>
              </a:rPr>
              <a:t> Tokenizer </a:t>
            </a:r>
            <a:r>
              <a:rPr b="0" dirty="0" err="1">
                <a:solidFill>
                  <a:srgbClr val="212529"/>
                </a:solidFill>
              </a:rPr>
              <a:t>時，將截斷邊調整為</a:t>
            </a:r>
            <a:r>
              <a:rPr b="0" dirty="0">
                <a:solidFill>
                  <a:srgbClr val="212529"/>
                </a:solidFill>
              </a:rPr>
              <a:t> </a:t>
            </a:r>
            <a:r>
              <a:rPr b="0" dirty="0" err="1">
                <a:solidFill>
                  <a:srgbClr val="212529"/>
                </a:solidFill>
              </a:rPr>
              <a:t>left。這能讓模型在字數超限時捨棄開頭，保留末尾的</a:t>
            </a:r>
            <a:r>
              <a:rPr b="0" dirty="0">
                <a:solidFill>
                  <a:srgbClr val="212529"/>
                </a:solidFill>
              </a:rPr>
              <a:t> 512 字。</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後半部通常寫些什麼？</a:t>
            </a:r>
            <a:r>
              <a:rPr b="0" dirty="0" err="1">
                <a:solidFill>
                  <a:srgbClr val="212529"/>
                </a:solidFill>
              </a:rPr>
              <a:t>企業具體的「承諾兌現時程（時間線</a:t>
            </a:r>
            <a:r>
              <a:rPr b="0" dirty="0">
                <a:solidFill>
                  <a:srgbClr val="212529"/>
                </a:solidFill>
              </a:rPr>
              <a:t>）」</a:t>
            </a:r>
            <a:r>
              <a:rPr b="0" dirty="0" err="1">
                <a:solidFill>
                  <a:srgbClr val="212529"/>
                </a:solidFill>
              </a:rPr>
              <a:t>以及「佐證數據實績（證據</a:t>
            </a:r>
            <a:r>
              <a:rPr b="0" dirty="0">
                <a:solidFill>
                  <a:srgbClr val="212529"/>
                </a:solidFill>
              </a:rPr>
              <a:t>）」，</a:t>
            </a:r>
            <a:r>
              <a:rPr b="0" dirty="0" err="1">
                <a:solidFill>
                  <a:srgbClr val="212529"/>
                </a:solidFill>
              </a:rPr>
              <a:t>幾乎都出現在段落的最後面</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結果：</a:t>
            </a:r>
            <a:r>
              <a:rPr b="0" dirty="0" err="1">
                <a:solidFill>
                  <a:srgbClr val="212529"/>
                </a:solidFill>
              </a:rPr>
              <a:t>改為左截斷後，完美保留了關鍵特徵，使證據品質與時程判定分數顯著攀升</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430887"/>
          </a:xfrm>
          <a:prstGeom prst="rect">
            <a:avLst/>
          </a:prstGeom>
          <a:noFill/>
        </p:spPr>
        <p:txBody>
          <a:bodyPr wrap="square" lIns="0" tIns="0" rIns="0" bIns="0" anchor="t">
            <a:spAutoFit/>
          </a:bodyPr>
          <a:lstStyle/>
          <a:p>
            <a:pPr>
              <a:defRPr sz="2800" b="1">
                <a:solidFill>
                  <a:srgbClr val="182B49"/>
                </a:solidFill>
                <a:latin typeface="微軟正黑體"/>
              </a:defRPr>
            </a:pPr>
            <a:r>
              <a:rPr dirty="0"/>
              <a:t>06 </a:t>
            </a:r>
            <a:r>
              <a:rPr dirty="0" err="1"/>
              <a:t>研究方法</a:t>
            </a:r>
            <a:r>
              <a:rPr dirty="0"/>
              <a:t> - </a:t>
            </a:r>
            <a:r>
              <a:rPr dirty="0" err="1"/>
              <a:t>特徵二合一融合</a:t>
            </a:r>
            <a:r>
              <a:rPr dirty="0"/>
              <a:t> </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2775119"/>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特徵二合一融合技術</a:t>
            </a:r>
            <a:endParaRPr lang="zh-TW">
              <a:ea typeface="微軟正黑體"/>
            </a:endParaRPr>
          </a:p>
          <a:p>
            <a:pPr>
              <a:spcAft>
                <a:spcPts val="800"/>
              </a:spcAft>
              <a:defRPr sz="1500">
                <a:latin typeface="微軟正黑體"/>
              </a:defRPr>
            </a:pPr>
            <a:r>
              <a:rPr b="1" dirty="0">
                <a:solidFill>
                  <a:srgbClr val="182B49"/>
                </a:solidFill>
              </a:rPr>
              <a:t>• [CLS] </a:t>
            </a:r>
            <a:r>
              <a:rPr b="1" dirty="0" err="1">
                <a:solidFill>
                  <a:srgbClr val="182B49"/>
                </a:solidFill>
              </a:rPr>
              <a:t>全局特徵：</a:t>
            </a:r>
            <a:r>
              <a:rPr b="0" dirty="0" err="1">
                <a:solidFill>
                  <a:srgbClr val="212529"/>
                </a:solidFill>
              </a:rPr>
              <a:t>提取句子開頭的</a:t>
            </a:r>
            <a:r>
              <a:rPr b="0" dirty="0">
                <a:solidFill>
                  <a:srgbClr val="212529"/>
                </a:solidFill>
              </a:rPr>
              <a:t> [CLS] 向量（768維），</a:t>
            </a:r>
            <a:r>
              <a:rPr b="0" dirty="0" err="1">
                <a:solidFill>
                  <a:srgbClr val="212529"/>
                </a:solidFill>
              </a:rPr>
              <a:t>代表文本段落的全局核心意圖</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a:solidFill>
                  <a:srgbClr val="182B49"/>
                </a:solidFill>
              </a:rPr>
              <a:t>• Mean Pooling </a:t>
            </a:r>
            <a:r>
              <a:rPr b="1" dirty="0" err="1">
                <a:solidFill>
                  <a:srgbClr val="182B49"/>
                </a:solidFill>
              </a:rPr>
              <a:t>特徵：</a:t>
            </a:r>
            <a:r>
              <a:rPr b="0" dirty="0" err="1">
                <a:solidFill>
                  <a:srgbClr val="212529"/>
                </a:solidFill>
              </a:rPr>
              <a:t>對所有</a:t>
            </a:r>
            <a:r>
              <a:rPr b="0" dirty="0">
                <a:solidFill>
                  <a:srgbClr val="212529"/>
                </a:solidFill>
              </a:rPr>
              <a:t> token 進行平均池化（768維），</a:t>
            </a:r>
            <a:r>
              <a:rPr b="0" dirty="0" err="1">
                <a:solidFill>
                  <a:srgbClr val="212529"/>
                </a:solidFill>
              </a:rPr>
              <a:t>代表整段文本的平均語意分佈</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a typeface="微軟正黑體"/>
            </a:endParaRPr>
          </a:p>
          <a:p>
            <a:pPr>
              <a:spcAft>
                <a:spcPts val="800"/>
              </a:spcAft>
              <a:defRPr sz="1500">
                <a:latin typeface="微軟正黑體"/>
              </a:defRPr>
            </a:pPr>
            <a:r>
              <a:rPr b="1" dirty="0">
                <a:solidFill>
                  <a:srgbClr val="182B49"/>
                </a:solidFill>
              </a:rPr>
              <a:t>• </a:t>
            </a:r>
            <a:r>
              <a:rPr b="1" dirty="0" err="1">
                <a:solidFill>
                  <a:srgbClr val="182B49"/>
                </a:solidFill>
              </a:rPr>
              <a:t>特徵拼接</a:t>
            </a:r>
            <a:r>
              <a:rPr b="1" dirty="0">
                <a:solidFill>
                  <a:srgbClr val="182B49"/>
                </a:solidFill>
              </a:rPr>
              <a:t> (</a:t>
            </a:r>
            <a:r>
              <a:rPr b="1" dirty="0" err="1">
                <a:solidFill>
                  <a:srgbClr val="182B49"/>
                </a:solidFill>
              </a:rPr>
              <a:t>Concat</a:t>
            </a:r>
            <a:r>
              <a:rPr b="1" dirty="0">
                <a:solidFill>
                  <a:srgbClr val="182B49"/>
                </a:solidFill>
              </a:rPr>
              <a:t>)：</a:t>
            </a:r>
            <a:r>
              <a:rPr b="0" dirty="0" err="1">
                <a:solidFill>
                  <a:srgbClr val="212529"/>
                </a:solidFill>
              </a:rPr>
              <a:t>拼接為</a:t>
            </a:r>
            <a:r>
              <a:rPr b="0" dirty="0">
                <a:solidFill>
                  <a:srgbClr val="212529"/>
                </a:solidFill>
              </a:rPr>
              <a:t> 1536 </a:t>
            </a:r>
            <a:r>
              <a:rPr b="0" dirty="0" err="1">
                <a:solidFill>
                  <a:srgbClr val="212529"/>
                </a:solidFill>
              </a:rPr>
              <a:t>維融合向量，同時捕捉全局核心與細節詞彙</a:t>
            </a:r>
            <a:r>
              <a:rPr b="0" dirty="0">
                <a:solidFill>
                  <a:srgbClr val="212529"/>
                </a:solidFill>
              </a:rPr>
              <a:t>。</a:t>
            </a:r>
            <a:endParaRPr b="0" dirty="0">
              <a:solidFill>
                <a:srgbClr val="212529"/>
              </a:solidFill>
              <a:ea typeface="微軟正黑體"/>
            </a:endParaRPr>
          </a:p>
        </p:txBody>
      </p:sp>
      <p:sp>
        <p:nvSpPr>
          <p:cNvPr id="7" name="Rounded Rectangle 6"/>
          <p:cNvSpPr/>
          <p:nvPr/>
        </p:nvSpPr>
        <p:spPr>
          <a:xfrm>
            <a:off x="6217920" y="1645920"/>
            <a:ext cx="521208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2775119"/>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多任務</a:t>
            </a:r>
            <a:r>
              <a:rPr dirty="0"/>
              <a:t> MLP </a:t>
            </a:r>
            <a:r>
              <a:rPr dirty="0" err="1"/>
              <a:t>分類架構</a:t>
            </a:r>
            <a:endParaRPr lang="zh-TW" altLang="en-US" dirty="0" err="1">
              <a:ea typeface="微軟正黑體"/>
            </a:endParaRPr>
          </a:p>
          <a:p>
            <a:pPr>
              <a:spcAft>
                <a:spcPts val="800"/>
              </a:spcAft>
              <a:defRPr sz="1500">
                <a:latin typeface="微軟正黑體"/>
              </a:defRPr>
            </a:pPr>
            <a:r>
              <a:rPr b="1" dirty="0">
                <a:solidFill>
                  <a:srgbClr val="182B49"/>
                </a:solidFill>
              </a:rPr>
              <a:t>• </a:t>
            </a:r>
            <a:r>
              <a:rPr b="1" dirty="0" err="1">
                <a:solidFill>
                  <a:srgbClr val="182B49"/>
                </a:solidFill>
              </a:rPr>
              <a:t>共享</a:t>
            </a:r>
            <a:r>
              <a:rPr b="1" dirty="0">
                <a:solidFill>
                  <a:srgbClr val="182B49"/>
                </a:solidFill>
              </a:rPr>
              <a:t> Backbone </a:t>
            </a:r>
            <a:r>
              <a:rPr b="1" dirty="0" err="1">
                <a:solidFill>
                  <a:srgbClr val="182B49"/>
                </a:solidFill>
              </a:rPr>
              <a:t>網路：</a:t>
            </a:r>
            <a:r>
              <a:rPr b="0" dirty="0" err="1">
                <a:solidFill>
                  <a:srgbClr val="212529"/>
                </a:solidFill>
              </a:rPr>
              <a:t>使用預訓練</a:t>
            </a:r>
            <a:r>
              <a:rPr b="0" dirty="0">
                <a:solidFill>
                  <a:srgbClr val="212529"/>
                </a:solidFill>
              </a:rPr>
              <a:t> </a:t>
            </a:r>
            <a:r>
              <a:rPr b="0" dirty="0" err="1">
                <a:solidFill>
                  <a:srgbClr val="212529"/>
                </a:solidFill>
              </a:rPr>
              <a:t>RoBERTa</a:t>
            </a:r>
            <a:r>
              <a:rPr b="0" dirty="0">
                <a:solidFill>
                  <a:srgbClr val="212529"/>
                </a:solidFill>
              </a:rPr>
              <a:t>-base </a:t>
            </a:r>
            <a:r>
              <a:rPr b="0" dirty="0" err="1">
                <a:solidFill>
                  <a:srgbClr val="212529"/>
                </a:solidFill>
              </a:rPr>
              <a:t>作為共享翻譯器，大幅節省運算資源</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a:solidFill>
                  <a:srgbClr val="182B49"/>
                </a:solidFill>
              </a:rPr>
              <a:t>• </a:t>
            </a:r>
            <a:r>
              <a:rPr b="1" dirty="0" err="1">
                <a:solidFill>
                  <a:srgbClr val="182B49"/>
                </a:solidFill>
              </a:rPr>
              <a:t>獨立雙層</a:t>
            </a:r>
            <a:r>
              <a:rPr b="1" dirty="0">
                <a:solidFill>
                  <a:srgbClr val="182B49"/>
                </a:solidFill>
              </a:rPr>
              <a:t> MLP </a:t>
            </a:r>
            <a:r>
              <a:rPr b="1" dirty="0" err="1">
                <a:solidFill>
                  <a:srgbClr val="182B49"/>
                </a:solidFill>
              </a:rPr>
              <a:t>頭：</a:t>
            </a:r>
            <a:r>
              <a:rPr b="0" dirty="0" err="1">
                <a:solidFill>
                  <a:srgbClr val="212529"/>
                </a:solidFill>
              </a:rPr>
              <a:t>為</a:t>
            </a:r>
            <a:r>
              <a:rPr b="0" dirty="0">
                <a:solidFill>
                  <a:srgbClr val="212529"/>
                </a:solidFill>
              </a:rPr>
              <a:t> 4 </a:t>
            </a:r>
            <a:r>
              <a:rPr b="0" dirty="0" err="1">
                <a:solidFill>
                  <a:srgbClr val="212529"/>
                </a:solidFill>
              </a:rPr>
              <a:t>個任務設計獨立的</a:t>
            </a:r>
            <a:r>
              <a:rPr b="0" dirty="0">
                <a:solidFill>
                  <a:srgbClr val="212529"/>
                </a:solidFill>
              </a:rPr>
              <a:t> MLP </a:t>
            </a:r>
            <a:r>
              <a:rPr b="0" dirty="0" err="1">
                <a:solidFill>
                  <a:srgbClr val="212529"/>
                </a:solidFill>
              </a:rPr>
              <a:t>分類頭（加</a:t>
            </a:r>
            <a:r>
              <a:rPr b="0" dirty="0">
                <a:solidFill>
                  <a:srgbClr val="212529"/>
                </a:solidFill>
              </a:rPr>
              <a:t> Dropout），</a:t>
            </a:r>
            <a:r>
              <a:rPr b="0" dirty="0" err="1">
                <a:solidFill>
                  <a:srgbClr val="212529"/>
                </a:solidFill>
              </a:rPr>
              <a:t>預防梯度干擾</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a:solidFill>
                  <a:srgbClr val="182B49"/>
                </a:solidFill>
              </a:rPr>
              <a:t>• </a:t>
            </a:r>
            <a:r>
              <a:rPr b="1" dirty="0" err="1">
                <a:solidFill>
                  <a:srgbClr val="182B49"/>
                </a:solidFill>
              </a:rPr>
              <a:t>協同多任務學習：</a:t>
            </a:r>
            <a:r>
              <a:rPr b="0" dirty="0" err="1">
                <a:solidFill>
                  <a:srgbClr val="212529"/>
                </a:solidFill>
              </a:rPr>
              <a:t>多任務共同訓練、共享表徵，讓不同問題間的語意邏輯相互促進</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07 研究方法 - 特例加權與決策門檻調整</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優化</a:t>
            </a:r>
            <a:r>
              <a:rPr dirty="0"/>
              <a:t> 1：特例加權</a:t>
            </a:r>
            <a:endParaRPr lang="zh-TW" altLang="en-US" dirty="0">
              <a:ea typeface="微軟正黑體"/>
            </a:endParaRPr>
          </a:p>
          <a:p>
            <a:pPr>
              <a:spcAft>
                <a:spcPts val="800"/>
              </a:spcAft>
              <a:defRPr sz="1500">
                <a:latin typeface="微軟正黑體"/>
              </a:defRPr>
            </a:pPr>
            <a:r>
              <a:rPr b="1" dirty="0" err="1">
                <a:solidFill>
                  <a:srgbClr val="182B49"/>
                </a:solidFill>
              </a:rPr>
              <a:t>資料不均衡問題：</a:t>
            </a:r>
            <a:r>
              <a:rPr b="0" dirty="0" err="1">
                <a:solidFill>
                  <a:srgbClr val="212529"/>
                </a:solidFill>
              </a:rPr>
              <a:t>資料集裡「誤導性證據（Misleading</a:t>
            </a:r>
            <a:r>
              <a:rPr b="0" dirty="0">
                <a:solidFill>
                  <a:srgbClr val="212529"/>
                </a:solidFill>
              </a:rPr>
              <a:t>）」或「兩年內兌現（within_2_years）」</a:t>
            </a:r>
            <a:r>
              <a:rPr b="0" dirty="0" err="1">
                <a:solidFill>
                  <a:srgbClr val="212529"/>
                </a:solidFill>
              </a:rPr>
              <a:t>等特例樣本非常罕見（不到</a:t>
            </a:r>
            <a:r>
              <a:rPr b="0" dirty="0">
                <a:solidFill>
                  <a:srgbClr val="212529"/>
                </a:solidFill>
              </a:rPr>
              <a:t> 5%）。</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逆頻率損失權重：</a:t>
            </a:r>
            <a:r>
              <a:rPr b="0" dirty="0" err="1">
                <a:solidFill>
                  <a:srgbClr val="212529"/>
                </a:solidFill>
              </a:rPr>
              <a:t>如果</a:t>
            </a:r>
            <a:r>
              <a:rPr b="0" dirty="0">
                <a:solidFill>
                  <a:srgbClr val="212529"/>
                </a:solidFill>
              </a:rPr>
              <a:t> AI </a:t>
            </a:r>
            <a:r>
              <a:rPr b="0" dirty="0" err="1">
                <a:solidFill>
                  <a:srgbClr val="212529"/>
                </a:solidFill>
              </a:rPr>
              <a:t>猜錯了這些稀有類別，我們會對其施加數倍的懲罰，強制大腦花更多心思來強記和學習這些稀有樣本</a:t>
            </a:r>
            <a:r>
              <a:rPr b="0" dirty="0">
                <a:solidFill>
                  <a:srgbClr val="212529"/>
                </a:solidFill>
              </a:rPr>
              <a:t>。</a:t>
            </a:r>
            <a:endParaRPr b="0" dirty="0">
              <a:solidFill>
                <a:srgbClr val="212529"/>
              </a:solidFill>
              <a:ea typeface="微軟正黑體"/>
            </a:endParaRPr>
          </a:p>
        </p:txBody>
      </p:sp>
      <p:sp>
        <p:nvSpPr>
          <p:cNvPr id="7" name="Rounded Rectangle 6"/>
          <p:cNvSpPr/>
          <p:nvPr/>
        </p:nvSpPr>
        <p:spPr>
          <a:xfrm>
            <a:off x="6217920" y="1645920"/>
            <a:ext cx="521208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優化</a:t>
            </a:r>
            <a:r>
              <a:rPr dirty="0"/>
              <a:t> 2：決策信心門檻調整</a:t>
            </a:r>
          </a:p>
          <a:p>
            <a:pPr>
              <a:spcAft>
                <a:spcPts val="800"/>
              </a:spcAft>
              <a:defRPr sz="1500">
                <a:latin typeface="微軟正黑體"/>
              </a:defRPr>
            </a:pPr>
            <a:r>
              <a:rPr b="1" dirty="0" err="1">
                <a:solidFill>
                  <a:srgbClr val="182B49"/>
                </a:solidFill>
              </a:rPr>
              <a:t>不要死猜概率最大的答案：</a:t>
            </a:r>
            <a:r>
              <a:rPr b="0" dirty="0" err="1">
                <a:solidFill>
                  <a:srgbClr val="212529"/>
                </a:solidFill>
              </a:rPr>
              <a:t>常規的預測會直接取最大機率的值（argmax</a:t>
            </a:r>
            <a:r>
              <a:rPr b="0" dirty="0">
                <a:solidFill>
                  <a:srgbClr val="212529"/>
                </a:solidFill>
              </a:rPr>
              <a:t>），</a:t>
            </a:r>
            <a:r>
              <a:rPr b="0" dirty="0" err="1">
                <a:solidFill>
                  <a:srgbClr val="212529"/>
                </a:solidFill>
              </a:rPr>
              <a:t>但在類別極度不均時，AI</a:t>
            </a:r>
            <a:r>
              <a:rPr b="0" dirty="0">
                <a:solidFill>
                  <a:srgbClr val="212529"/>
                </a:solidFill>
              </a:rPr>
              <a:t> </a:t>
            </a:r>
            <a:r>
              <a:rPr b="0" dirty="0" err="1">
                <a:solidFill>
                  <a:srgbClr val="212529"/>
                </a:solidFill>
              </a:rPr>
              <a:t>會本能地傾向猜常見標籤</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決策信心門檻調整：</a:t>
            </a:r>
            <a:r>
              <a:rPr b="0" dirty="0" err="1">
                <a:solidFill>
                  <a:srgbClr val="212529"/>
                </a:solidFill>
              </a:rPr>
              <a:t>我們透過網格搜索微調了少數類別的判定機率乘數，手動調低判定門檻。這極大地提高了少數類別的召回率，進一步拉升了</a:t>
            </a:r>
            <a:r>
              <a:rPr b="0" dirty="0">
                <a:solidFill>
                  <a:srgbClr val="212529"/>
                </a:solidFill>
              </a:rPr>
              <a:t> Macro F1 </a:t>
            </a:r>
            <a:r>
              <a:rPr b="0" dirty="0" err="1">
                <a:solidFill>
                  <a:srgbClr val="212529"/>
                </a:solidFill>
              </a:rPr>
              <a:t>分數</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09 實驗設定 - 資料集與 3-Fold 切分</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3467616"/>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評估策略與資料集</a:t>
            </a:r>
            <a:endParaRPr lang="zh-TW" altLang="en-US" dirty="0" err="1">
              <a:ea typeface="微軟正黑體"/>
            </a:endParaRPr>
          </a:p>
          <a:p>
            <a:pPr>
              <a:spcAft>
                <a:spcPts val="800"/>
              </a:spcAft>
              <a:defRPr sz="1500">
                <a:latin typeface="微軟正黑體"/>
              </a:defRPr>
            </a:pPr>
            <a:r>
              <a:rPr b="1" dirty="0" err="1">
                <a:solidFill>
                  <a:srgbClr val="182B49"/>
                </a:solidFill>
              </a:rPr>
              <a:t>資料集來源：</a:t>
            </a:r>
            <a:r>
              <a:rPr b="0" dirty="0" err="1">
                <a:solidFill>
                  <a:srgbClr val="212529"/>
                </a:solidFill>
              </a:rPr>
              <a:t>採用</a:t>
            </a:r>
            <a:r>
              <a:rPr b="0" dirty="0">
                <a:solidFill>
                  <a:srgbClr val="212529"/>
                </a:solidFill>
              </a:rPr>
              <a:t> AICUP </a:t>
            </a:r>
            <a:r>
              <a:rPr b="0" dirty="0" err="1">
                <a:solidFill>
                  <a:srgbClr val="212529"/>
                </a:solidFill>
              </a:rPr>
              <a:t>競賽提供的</a:t>
            </a:r>
            <a:r>
              <a:rPr b="0" dirty="0">
                <a:solidFill>
                  <a:srgbClr val="212529"/>
                </a:solidFill>
              </a:rPr>
              <a:t> `vpesg4k_train_1000.json`，共 1,000 </a:t>
            </a:r>
            <a:r>
              <a:rPr b="0" dirty="0" err="1">
                <a:solidFill>
                  <a:srgbClr val="212529"/>
                </a:solidFill>
              </a:rPr>
              <a:t>筆有標籤的永續報告中文文本段落</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本機驗證方式：</a:t>
            </a:r>
            <a:r>
              <a:rPr b="0" dirty="0" err="1">
                <a:solidFill>
                  <a:srgbClr val="212529"/>
                </a:solidFill>
              </a:rPr>
              <a:t>採用</a:t>
            </a:r>
            <a:r>
              <a:rPr b="0" dirty="0">
                <a:solidFill>
                  <a:srgbClr val="212529"/>
                </a:solidFill>
              </a:rPr>
              <a:t> 3 </a:t>
            </a:r>
            <a:r>
              <a:rPr b="0" dirty="0" err="1">
                <a:solidFill>
                  <a:srgbClr val="212529"/>
                </a:solidFill>
              </a:rPr>
              <a:t>折交叉驗證</a:t>
            </a:r>
            <a:r>
              <a:rPr b="0" dirty="0">
                <a:solidFill>
                  <a:srgbClr val="212529"/>
                </a:solidFill>
              </a:rPr>
              <a:t> (3-Fold Cross-Validation) </a:t>
            </a:r>
            <a:r>
              <a:rPr b="0" dirty="0" err="1">
                <a:solidFill>
                  <a:srgbClr val="212529"/>
                </a:solidFill>
              </a:rPr>
              <a:t>作為我們本地開發與模型評估的唯一準則</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重複性設定：</a:t>
            </a:r>
            <a:r>
              <a:rPr b="0" dirty="0" err="1">
                <a:solidFill>
                  <a:srgbClr val="212529"/>
                </a:solidFill>
              </a:rPr>
              <a:t>固定亂數種子</a:t>
            </a:r>
            <a:r>
              <a:rPr b="0" dirty="0">
                <a:solidFill>
                  <a:srgbClr val="212529"/>
                </a:solidFill>
              </a:rPr>
              <a:t> `</a:t>
            </a:r>
            <a:r>
              <a:rPr b="0" dirty="0" err="1">
                <a:solidFill>
                  <a:srgbClr val="212529"/>
                </a:solidFill>
              </a:rPr>
              <a:t>random_state</a:t>
            </a:r>
            <a:r>
              <a:rPr b="0" dirty="0">
                <a:solidFill>
                  <a:srgbClr val="212529"/>
                </a:solidFill>
              </a:rPr>
              <a:t>=42`，確保每次資料切割和模型訓練都可以百分之百還原，保證實驗可重複。</a:t>
            </a:r>
            <a:endParaRPr b="0" dirty="0">
              <a:solidFill>
                <a:srgbClr val="212529"/>
              </a:solidFill>
              <a:ea typeface="微軟正黑體"/>
            </a:endParaRPr>
          </a:p>
        </p:txBody>
      </p:sp>
      <p:sp>
        <p:nvSpPr>
          <p:cNvPr id="7" name="Rounded Rectangle 6"/>
          <p:cNvSpPr/>
          <p:nvPr/>
        </p:nvSpPr>
        <p:spPr>
          <a:xfrm>
            <a:off x="6217920" y="1645920"/>
            <a:ext cx="521208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3441968"/>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a:t>3 </a:t>
            </a:r>
            <a:r>
              <a:rPr dirty="0" err="1"/>
              <a:t>折交叉驗證</a:t>
            </a:r>
            <a:endParaRPr lang="zh-TW" altLang="en-US" dirty="0" err="1">
              <a:ea typeface="微軟正黑體"/>
            </a:endParaRPr>
          </a:p>
          <a:p>
            <a:pPr>
              <a:spcAft>
                <a:spcPts val="800"/>
              </a:spcAft>
              <a:defRPr sz="1500">
                <a:latin typeface="微軟正黑體"/>
              </a:defRPr>
            </a:pPr>
            <a:r>
              <a:rPr b="1" dirty="0" err="1">
                <a:solidFill>
                  <a:srgbClr val="182B49"/>
                </a:solidFill>
              </a:rPr>
              <a:t>為什麼要用</a:t>
            </a:r>
            <a:r>
              <a:rPr b="1" dirty="0">
                <a:solidFill>
                  <a:srgbClr val="182B49"/>
                </a:solidFill>
              </a:rPr>
              <a:t> 3 </a:t>
            </a:r>
            <a:r>
              <a:rPr b="1" dirty="0" err="1">
                <a:solidFill>
                  <a:srgbClr val="182B49"/>
                </a:solidFill>
              </a:rPr>
              <a:t>折交叉驗證？</a:t>
            </a:r>
            <a:r>
              <a:rPr b="0" dirty="0" err="1">
                <a:solidFill>
                  <a:srgbClr val="212529"/>
                </a:solidFill>
              </a:rPr>
              <a:t>如果只用普通的</a:t>
            </a:r>
            <a:r>
              <a:rPr b="0" dirty="0">
                <a:solidFill>
                  <a:srgbClr val="212529"/>
                </a:solidFill>
              </a:rPr>
              <a:t> 2/8 </a:t>
            </a:r>
            <a:r>
              <a:rPr b="0" dirty="0" err="1">
                <a:solidFill>
                  <a:srgbClr val="212529"/>
                </a:solidFill>
              </a:rPr>
              <a:t>分法，結果很容易受到特定劃分影響</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a:solidFill>
                  <a:srgbClr val="182B49"/>
                </a:solidFill>
              </a:rPr>
              <a:t>3-Fold </a:t>
            </a:r>
            <a:r>
              <a:rPr b="1" dirty="0" err="1">
                <a:solidFill>
                  <a:srgbClr val="182B49"/>
                </a:solidFill>
              </a:rPr>
              <a:t>的運作方式：</a:t>
            </a:r>
            <a:r>
              <a:rPr b="0" dirty="0" err="1">
                <a:solidFill>
                  <a:srgbClr val="212529"/>
                </a:solidFill>
              </a:rPr>
              <a:t>將</a:t>
            </a:r>
            <a:r>
              <a:rPr b="0" dirty="0">
                <a:solidFill>
                  <a:srgbClr val="212529"/>
                </a:solidFill>
              </a:rPr>
              <a:t> 1000 </a:t>
            </a:r>
            <a:r>
              <a:rPr b="0" dirty="0" err="1">
                <a:solidFill>
                  <a:srgbClr val="212529"/>
                </a:solidFill>
              </a:rPr>
              <a:t>筆隨機分為</a:t>
            </a:r>
            <a:r>
              <a:rPr b="0" dirty="0">
                <a:solidFill>
                  <a:srgbClr val="212529"/>
                </a:solidFill>
              </a:rPr>
              <a:t> A、B、C </a:t>
            </a:r>
            <a:r>
              <a:rPr b="0" dirty="0" err="1">
                <a:solidFill>
                  <a:srgbClr val="212529"/>
                </a:solidFill>
              </a:rPr>
              <a:t>三份</a:t>
            </a:r>
            <a:r>
              <a:rPr b="0" dirty="0">
                <a:solidFill>
                  <a:srgbClr val="212529"/>
                </a:solidFill>
              </a:rPr>
              <a:t>。
- </a:t>
            </a:r>
            <a:r>
              <a:rPr b="0" dirty="0" err="1">
                <a:solidFill>
                  <a:srgbClr val="212529"/>
                </a:solidFill>
              </a:rPr>
              <a:t>輪流用</a:t>
            </a:r>
            <a:r>
              <a:rPr b="0" dirty="0">
                <a:solidFill>
                  <a:srgbClr val="212529"/>
                </a:solidFill>
              </a:rPr>
              <a:t> (A+B) </a:t>
            </a:r>
            <a:r>
              <a:rPr b="0" dirty="0" err="1">
                <a:solidFill>
                  <a:srgbClr val="212529"/>
                </a:solidFill>
              </a:rPr>
              <a:t>讀書，C</a:t>
            </a:r>
            <a:r>
              <a:rPr b="0" dirty="0">
                <a:solidFill>
                  <a:srgbClr val="212529"/>
                </a:solidFill>
              </a:rPr>
              <a:t> </a:t>
            </a:r>
            <a:r>
              <a:rPr b="0" dirty="0" err="1">
                <a:solidFill>
                  <a:srgbClr val="212529"/>
                </a:solidFill>
              </a:rPr>
              <a:t>考試</a:t>
            </a:r>
            <a:r>
              <a:rPr b="0" dirty="0">
                <a:solidFill>
                  <a:srgbClr val="212529"/>
                </a:solidFill>
              </a:rPr>
              <a:t>；
- (B+C) </a:t>
            </a:r>
            <a:r>
              <a:rPr b="0" dirty="0" err="1">
                <a:solidFill>
                  <a:srgbClr val="212529"/>
                </a:solidFill>
              </a:rPr>
              <a:t>讀書，A</a:t>
            </a:r>
            <a:r>
              <a:rPr b="0" dirty="0">
                <a:solidFill>
                  <a:srgbClr val="212529"/>
                </a:solidFill>
              </a:rPr>
              <a:t> </a:t>
            </a:r>
            <a:r>
              <a:rPr b="0" dirty="0" err="1">
                <a:solidFill>
                  <a:srgbClr val="212529"/>
                </a:solidFill>
              </a:rPr>
              <a:t>考試</a:t>
            </a:r>
            <a:r>
              <a:rPr b="0" dirty="0">
                <a:solidFill>
                  <a:srgbClr val="212529"/>
                </a:solidFill>
              </a:rPr>
              <a:t>；
- (A+C) </a:t>
            </a:r>
            <a:r>
              <a:rPr b="0" dirty="0" err="1">
                <a:solidFill>
                  <a:srgbClr val="212529"/>
                </a:solidFill>
              </a:rPr>
              <a:t>讀書，B</a:t>
            </a:r>
            <a:r>
              <a:rPr b="0" dirty="0">
                <a:solidFill>
                  <a:srgbClr val="212529"/>
                </a:solidFill>
              </a:rPr>
              <a:t> </a:t>
            </a:r>
            <a:r>
              <a:rPr b="0" dirty="0" err="1">
                <a:solidFill>
                  <a:srgbClr val="212529"/>
                </a:solidFill>
              </a:rPr>
              <a:t>考試</a:t>
            </a:r>
            <a:r>
              <a:rPr b="0" dirty="0">
                <a:solidFill>
                  <a:srgbClr val="212529"/>
                </a:solidFill>
              </a:rPr>
              <a:t>。
- </a:t>
            </a:r>
            <a:r>
              <a:rPr b="0" dirty="0" err="1">
                <a:solidFill>
                  <a:srgbClr val="212529"/>
                </a:solidFill>
              </a:rPr>
              <a:t>最終綜合</a:t>
            </a:r>
            <a:r>
              <a:rPr b="0" dirty="0">
                <a:solidFill>
                  <a:srgbClr val="212529"/>
                </a:solidFill>
              </a:rPr>
              <a:t> 3 </a:t>
            </a:r>
            <a:r>
              <a:rPr b="0" dirty="0" err="1">
                <a:solidFill>
                  <a:srgbClr val="212529"/>
                </a:solidFill>
              </a:rPr>
              <a:t>次考卷的平均成績。這能反映</a:t>
            </a:r>
            <a:r>
              <a:rPr b="0" dirty="0">
                <a:solidFill>
                  <a:srgbClr val="212529"/>
                </a:solidFill>
              </a:rPr>
              <a:t> AI </a:t>
            </a:r>
            <a:r>
              <a:rPr b="0" dirty="0" err="1">
                <a:solidFill>
                  <a:srgbClr val="212529"/>
                </a:solidFill>
              </a:rPr>
              <a:t>真正的實力，不會偏袒任何特定資料</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10 實驗設定 - 四大子任務分布不均</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3467616"/>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資料失衡挑戰</a:t>
            </a:r>
            <a:endParaRPr lang="zh-TW" altLang="en-US" dirty="0" err="1">
              <a:ea typeface="微軟正黑體"/>
            </a:endParaRPr>
          </a:p>
          <a:p>
            <a:pPr>
              <a:spcAft>
                <a:spcPts val="800"/>
              </a:spcAft>
              <a:defRPr sz="1500">
                <a:latin typeface="微軟正黑體"/>
              </a:defRPr>
            </a:pPr>
            <a:r>
              <a:rPr b="1" dirty="0" err="1">
                <a:solidFill>
                  <a:srgbClr val="182B49"/>
                </a:solidFill>
              </a:rPr>
              <a:t>極端不平衡的分布：</a:t>
            </a:r>
            <a:r>
              <a:rPr b="0" dirty="0" err="1">
                <a:solidFill>
                  <a:srgbClr val="212529"/>
                </a:solidFill>
              </a:rPr>
              <a:t>在</a:t>
            </a:r>
            <a:r>
              <a:rPr b="0" dirty="0">
                <a:solidFill>
                  <a:srgbClr val="212529"/>
                </a:solidFill>
              </a:rPr>
              <a:t> ESG </a:t>
            </a:r>
            <a:r>
              <a:rPr b="0" dirty="0" err="1">
                <a:solidFill>
                  <a:srgbClr val="212529"/>
                </a:solidFill>
              </a:rPr>
              <a:t>報告中，多數標籤都是偏向正面、清晰的（如承諾狀態為</a:t>
            </a:r>
            <a:r>
              <a:rPr b="0" dirty="0">
                <a:solidFill>
                  <a:srgbClr val="212529"/>
                </a:solidFill>
              </a:rPr>
              <a:t> Yes 佔 80%，</a:t>
            </a:r>
            <a:r>
              <a:rPr b="0" dirty="0" err="1">
                <a:solidFill>
                  <a:srgbClr val="212529"/>
                </a:solidFill>
              </a:rPr>
              <a:t>證據品質</a:t>
            </a:r>
            <a:r>
              <a:rPr b="0" dirty="0">
                <a:solidFill>
                  <a:srgbClr val="212529"/>
                </a:solidFill>
              </a:rPr>
              <a:t> Clear 佔 85%）。</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少數類別的生存危機：</a:t>
            </a:r>
            <a:r>
              <a:rPr b="0" dirty="0" err="1">
                <a:solidFill>
                  <a:srgbClr val="212529"/>
                </a:solidFill>
              </a:rPr>
              <a:t>少數類別的樣本非常稀缺。例如，在</a:t>
            </a:r>
            <a:r>
              <a:rPr b="0" dirty="0">
                <a:solidFill>
                  <a:srgbClr val="212529"/>
                </a:solidFill>
              </a:rPr>
              <a:t> 1000 </a:t>
            </a:r>
            <a:r>
              <a:rPr b="0" dirty="0" err="1">
                <a:solidFill>
                  <a:srgbClr val="212529"/>
                </a:solidFill>
              </a:rPr>
              <a:t>筆中</a:t>
            </a:r>
            <a:r>
              <a:rPr b="0" dirty="0">
                <a:solidFill>
                  <a:srgbClr val="212529"/>
                </a:solidFill>
              </a:rPr>
              <a:t>，「</a:t>
            </a:r>
            <a:r>
              <a:rPr b="0" dirty="0" err="1">
                <a:solidFill>
                  <a:srgbClr val="212529"/>
                </a:solidFill>
              </a:rPr>
              <a:t>具誤導性的證據（Misleading</a:t>
            </a:r>
            <a:r>
              <a:rPr b="0" dirty="0">
                <a:solidFill>
                  <a:srgbClr val="212529"/>
                </a:solidFill>
              </a:rPr>
              <a:t>）」</a:t>
            </a:r>
            <a:r>
              <a:rPr b="0" dirty="0" err="1">
                <a:solidFill>
                  <a:srgbClr val="212529"/>
                </a:solidFill>
              </a:rPr>
              <a:t>僅有幾十個樣本，如果使用常規訓練，AI</a:t>
            </a:r>
            <a:r>
              <a:rPr b="0" dirty="0">
                <a:solidFill>
                  <a:srgbClr val="212529"/>
                </a:solidFill>
              </a:rPr>
              <a:t> </a:t>
            </a:r>
            <a:r>
              <a:rPr b="0" dirty="0" err="1">
                <a:solidFill>
                  <a:srgbClr val="212529"/>
                </a:solidFill>
              </a:rPr>
              <a:t>會直接放棄學習牠們</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err="1">
                <a:solidFill>
                  <a:srgbClr val="182B49"/>
                </a:solidFill>
              </a:rPr>
              <a:t>優化對策：</a:t>
            </a:r>
            <a:r>
              <a:rPr b="0" dirty="0" err="1">
                <a:solidFill>
                  <a:srgbClr val="212529"/>
                </a:solidFill>
              </a:rPr>
              <a:t>這也是我們必須導入「特例加權」與「決策信心門檻調整」的核心原因</a:t>
            </a:r>
            <a:r>
              <a:rPr b="0" dirty="0">
                <a:solidFill>
                  <a:srgbClr val="212529"/>
                </a:solidFill>
              </a:rPr>
              <a:t>。</a:t>
            </a:r>
            <a:endParaRPr b="0" dirty="0">
              <a:solidFill>
                <a:srgbClr val="212529"/>
              </a:solidFill>
              <a:ea typeface="微軟正黑體"/>
            </a:endParaRPr>
          </a:p>
        </p:txBody>
      </p:sp>
      <p:pic>
        <p:nvPicPr>
          <p:cNvPr id="7" name="Picture 6" descr="esg_label_distribution.png"/>
          <p:cNvPicPr>
            <a:picLocks noChangeAspect="1"/>
          </p:cNvPicPr>
          <p:nvPr/>
        </p:nvPicPr>
        <p:blipFill>
          <a:blip r:embed="rId2"/>
          <a:stretch>
            <a:fillRect/>
          </a:stretch>
        </p:blipFill>
        <p:spPr>
          <a:xfrm>
            <a:off x="6217920" y="1712180"/>
            <a:ext cx="5753210" cy="43228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430887"/>
          </a:xfrm>
          <a:prstGeom prst="rect">
            <a:avLst/>
          </a:prstGeom>
          <a:noFill/>
        </p:spPr>
        <p:txBody>
          <a:bodyPr wrap="square" lIns="0" tIns="0" rIns="0" bIns="0" anchor="t">
            <a:spAutoFit/>
          </a:bodyPr>
          <a:lstStyle/>
          <a:p>
            <a:pPr>
              <a:defRPr sz="2800" b="1">
                <a:solidFill>
                  <a:srgbClr val="182B49"/>
                </a:solidFill>
                <a:latin typeface="微軟正黑體"/>
              </a:defRPr>
            </a:pPr>
            <a:r>
              <a:rPr dirty="0"/>
              <a:t>11 </a:t>
            </a:r>
            <a:r>
              <a:rPr dirty="0" err="1"/>
              <a:t>實驗結果</a:t>
            </a:r>
            <a:r>
              <a:rPr dirty="0"/>
              <a:t> - </a:t>
            </a:r>
            <a:r>
              <a:rPr lang="zh-TW" dirty="0">
                <a:ea typeface="新細明體"/>
              </a:rPr>
              <a:t>模型分數</a:t>
            </a:r>
            <a:endParaRPr lang="zh-TW" altLang="en-US" dirty="0">
              <a:ea typeface="新細明體"/>
            </a:endParaRP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645920"/>
          <a:ext cx="5943600" cy="43891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877824">
                <a:tc>
                  <a:txBody>
                    <a:bodyPr/>
                    <a:lstStyle/>
                    <a:p>
                      <a:pPr algn="ctr">
                        <a:defRPr sz="1300" b="1">
                          <a:solidFill>
                            <a:srgbClr val="FFFFFF"/>
                          </a:solidFill>
                          <a:latin typeface="微軟正黑體"/>
                        </a:defRPr>
                      </a:pPr>
                      <a:r>
                        <a:t>模型對比</a:t>
                      </a:r>
                    </a:p>
                  </a:txBody>
                  <a:tcPr>
                    <a:solidFill>
                      <a:srgbClr val="182B49"/>
                    </a:solidFill>
                  </a:tcPr>
                </a:tc>
                <a:tc>
                  <a:txBody>
                    <a:bodyPr/>
                    <a:lstStyle/>
                    <a:p>
                      <a:pPr algn="ctr">
                        <a:defRPr sz="1300" b="1">
                          <a:solidFill>
                            <a:srgbClr val="FFFFFF"/>
                          </a:solidFill>
                          <a:latin typeface="微軟正黑體"/>
                        </a:defRPr>
                      </a:pPr>
                      <a:r>
                        <a:t>綜合得分</a:t>
                      </a:r>
                    </a:p>
                  </a:txBody>
                  <a:tcPr>
                    <a:solidFill>
                      <a:srgbClr val="182B49"/>
                    </a:solidFill>
                  </a:tcPr>
                </a:tc>
                <a:tc>
                  <a:txBody>
                    <a:bodyPr/>
                    <a:lstStyle/>
                    <a:p>
                      <a:pPr algn="ctr">
                        <a:defRPr sz="1300" b="1">
                          <a:solidFill>
                            <a:srgbClr val="FFFFFF"/>
                          </a:solidFill>
                          <a:latin typeface="微軟正黑體"/>
                        </a:defRPr>
                      </a:pPr>
                      <a:r>
                        <a:t>承諾 (20%)</a:t>
                      </a:r>
                    </a:p>
                  </a:txBody>
                  <a:tcPr>
                    <a:solidFill>
                      <a:srgbClr val="182B49"/>
                    </a:solidFill>
                  </a:tcPr>
                </a:tc>
                <a:tc>
                  <a:txBody>
                    <a:bodyPr/>
                    <a:lstStyle/>
                    <a:p>
                      <a:pPr algn="ctr">
                        <a:defRPr sz="1300" b="1">
                          <a:solidFill>
                            <a:srgbClr val="FFFFFF"/>
                          </a:solidFill>
                          <a:latin typeface="微軟正黑體"/>
                        </a:defRPr>
                      </a:pPr>
                      <a:r>
                        <a:t>時程 (15%)</a:t>
                      </a:r>
                    </a:p>
                  </a:txBody>
                  <a:tcPr>
                    <a:solidFill>
                      <a:srgbClr val="182B49"/>
                    </a:solidFill>
                  </a:tcPr>
                </a:tc>
                <a:tc>
                  <a:txBody>
                    <a:bodyPr/>
                    <a:lstStyle/>
                    <a:p>
                      <a:pPr algn="ctr">
                        <a:defRPr sz="1300" b="1">
                          <a:solidFill>
                            <a:srgbClr val="FFFFFF"/>
                          </a:solidFill>
                          <a:latin typeface="微軟正黑體"/>
                        </a:defRPr>
                      </a:pPr>
                      <a:r>
                        <a:t>證據 (30%)</a:t>
                      </a:r>
                    </a:p>
                  </a:txBody>
                  <a:tcPr>
                    <a:solidFill>
                      <a:srgbClr val="182B49"/>
                    </a:solidFill>
                  </a:tcPr>
                </a:tc>
                <a:tc>
                  <a:txBody>
                    <a:bodyPr/>
                    <a:lstStyle/>
                    <a:p>
                      <a:pPr algn="ctr">
                        <a:defRPr sz="1300" b="1">
                          <a:solidFill>
                            <a:srgbClr val="FFFFFF"/>
                          </a:solidFill>
                          <a:latin typeface="微軟正黑體"/>
                        </a:defRPr>
                      </a:pPr>
                      <a:r>
                        <a:t>品質 (35%)</a:t>
                      </a:r>
                    </a:p>
                  </a:txBody>
                  <a:tcPr>
                    <a:solidFill>
                      <a:srgbClr val="182B49"/>
                    </a:solidFill>
                  </a:tcPr>
                </a:tc>
                <a:extLst>
                  <a:ext uri="{0D108BD9-81ED-4DB2-BD59-A6C34878D82A}">
                    <a16:rowId xmlns:a16="http://schemas.microsoft.com/office/drawing/2014/main" val="10000"/>
                  </a:ext>
                </a:extLst>
              </a:tr>
              <a:tr h="877824">
                <a:tc>
                  <a:txBody>
                    <a:bodyPr/>
                    <a:lstStyle/>
                    <a:p>
                      <a:pPr algn="ctr">
                        <a:defRPr sz="1200">
                          <a:solidFill>
                            <a:srgbClr val="212529"/>
                          </a:solidFill>
                          <a:latin typeface="微軟正黑體"/>
                        </a:defRPr>
                      </a:pPr>
                      <a:r>
                        <a:t>1. Baseline (一般 BERT)</a:t>
                      </a:r>
                    </a:p>
                  </a:txBody>
                  <a:tcPr>
                    <a:solidFill>
                      <a:srgbClr val="FFFFFF"/>
                    </a:solidFill>
                  </a:tcPr>
                </a:tc>
                <a:tc>
                  <a:txBody>
                    <a:bodyPr/>
                    <a:lstStyle/>
                    <a:p>
                      <a:pPr algn="ctr">
                        <a:defRPr sz="1200" b="1">
                          <a:solidFill>
                            <a:srgbClr val="212529"/>
                          </a:solidFill>
                          <a:latin typeface="微軟正黑體"/>
                        </a:defRPr>
                      </a:pPr>
                      <a:r>
                        <a:t>0.56067</a:t>
                      </a:r>
                    </a:p>
                  </a:txBody>
                  <a:tcPr>
                    <a:solidFill>
                      <a:srgbClr val="FFFFFF"/>
                    </a:solidFill>
                  </a:tcPr>
                </a:tc>
                <a:tc>
                  <a:txBody>
                    <a:bodyPr/>
                    <a:lstStyle/>
                    <a:p>
                      <a:pPr algn="ctr">
                        <a:defRPr sz="1200">
                          <a:solidFill>
                            <a:srgbClr val="212529"/>
                          </a:solidFill>
                          <a:latin typeface="微軟正黑體"/>
                        </a:defRPr>
                      </a:pPr>
                      <a:r>
                        <a:t>0.75685</a:t>
                      </a:r>
                    </a:p>
                  </a:txBody>
                  <a:tcPr>
                    <a:solidFill>
                      <a:srgbClr val="FFFFFF"/>
                    </a:solidFill>
                  </a:tcPr>
                </a:tc>
                <a:tc>
                  <a:txBody>
                    <a:bodyPr/>
                    <a:lstStyle/>
                    <a:p>
                      <a:pPr algn="ctr">
                        <a:defRPr sz="1200">
                          <a:solidFill>
                            <a:srgbClr val="212529"/>
                          </a:solidFill>
                          <a:latin typeface="微軟正黑體"/>
                        </a:defRPr>
                      </a:pPr>
                      <a:r>
                        <a:t>0.43928</a:t>
                      </a:r>
                    </a:p>
                  </a:txBody>
                  <a:tcPr>
                    <a:solidFill>
                      <a:srgbClr val="FFFFFF"/>
                    </a:solidFill>
                  </a:tcPr>
                </a:tc>
                <a:tc>
                  <a:txBody>
                    <a:bodyPr/>
                    <a:lstStyle/>
                    <a:p>
                      <a:pPr algn="ctr">
                        <a:defRPr sz="1200">
                          <a:solidFill>
                            <a:srgbClr val="212529"/>
                          </a:solidFill>
                          <a:latin typeface="微軟正黑體"/>
                        </a:defRPr>
                      </a:pPr>
                      <a:r>
                        <a:t>0.60017</a:t>
                      </a:r>
                    </a:p>
                  </a:txBody>
                  <a:tcPr>
                    <a:solidFill>
                      <a:srgbClr val="FFFFFF"/>
                    </a:solidFill>
                  </a:tcPr>
                </a:tc>
                <a:tc>
                  <a:txBody>
                    <a:bodyPr/>
                    <a:lstStyle/>
                    <a:p>
                      <a:pPr algn="ctr">
                        <a:defRPr sz="1200">
                          <a:solidFill>
                            <a:srgbClr val="212529"/>
                          </a:solidFill>
                          <a:latin typeface="微軟正黑體"/>
                        </a:defRPr>
                      </a:pPr>
                      <a:r>
                        <a:t>0.46674</a:t>
                      </a:r>
                    </a:p>
                  </a:txBody>
                  <a:tcPr>
                    <a:solidFill>
                      <a:srgbClr val="FFFFFF"/>
                    </a:solidFill>
                  </a:tcPr>
                </a:tc>
                <a:extLst>
                  <a:ext uri="{0D108BD9-81ED-4DB2-BD59-A6C34878D82A}">
                    <a16:rowId xmlns:a16="http://schemas.microsoft.com/office/drawing/2014/main" val="10001"/>
                  </a:ext>
                </a:extLst>
              </a:tr>
              <a:tr h="877824">
                <a:tc>
                  <a:txBody>
                    <a:bodyPr/>
                    <a:lstStyle/>
                    <a:p>
                      <a:pPr algn="ctr">
                        <a:defRPr sz="1200">
                          <a:solidFill>
                            <a:srgbClr val="212529"/>
                          </a:solidFill>
                          <a:latin typeface="微軟正黑體"/>
                        </a:defRPr>
                      </a:pPr>
                      <a:r>
                        <a:t>2. 本機優化單模型</a:t>
                      </a:r>
                    </a:p>
                  </a:txBody>
                  <a:tcPr>
                    <a:solidFill>
                      <a:srgbClr val="F0F2F5"/>
                    </a:solidFill>
                  </a:tcPr>
                </a:tc>
                <a:tc>
                  <a:txBody>
                    <a:bodyPr/>
                    <a:lstStyle/>
                    <a:p>
                      <a:pPr algn="ctr">
                        <a:defRPr sz="1200" b="1">
                          <a:solidFill>
                            <a:srgbClr val="212529"/>
                          </a:solidFill>
                          <a:latin typeface="微軟正黑體"/>
                        </a:defRPr>
                      </a:pPr>
                      <a:r>
                        <a:t>0.59016</a:t>
                      </a:r>
                    </a:p>
                  </a:txBody>
                  <a:tcPr>
                    <a:solidFill>
                      <a:srgbClr val="F0F2F5"/>
                    </a:solidFill>
                  </a:tcPr>
                </a:tc>
                <a:tc>
                  <a:txBody>
                    <a:bodyPr/>
                    <a:lstStyle/>
                    <a:p>
                      <a:pPr algn="ctr">
                        <a:defRPr sz="1200">
                          <a:solidFill>
                            <a:srgbClr val="212529"/>
                          </a:solidFill>
                          <a:latin typeface="微軟正黑體"/>
                        </a:defRPr>
                      </a:pPr>
                      <a:r>
                        <a:t>0.75758</a:t>
                      </a:r>
                    </a:p>
                  </a:txBody>
                  <a:tcPr>
                    <a:solidFill>
                      <a:srgbClr val="F0F2F5"/>
                    </a:solidFill>
                  </a:tcPr>
                </a:tc>
                <a:tc>
                  <a:txBody>
                    <a:bodyPr/>
                    <a:lstStyle/>
                    <a:p>
                      <a:pPr algn="ctr">
                        <a:defRPr sz="1200">
                          <a:solidFill>
                            <a:srgbClr val="212529"/>
                          </a:solidFill>
                          <a:latin typeface="微軟正黑體"/>
                        </a:defRPr>
                      </a:pPr>
                      <a:r>
                        <a:t>0.48172</a:t>
                      </a:r>
                    </a:p>
                  </a:txBody>
                  <a:tcPr>
                    <a:solidFill>
                      <a:srgbClr val="F0F2F5"/>
                    </a:solidFill>
                  </a:tcPr>
                </a:tc>
                <a:tc>
                  <a:txBody>
                    <a:bodyPr/>
                    <a:lstStyle/>
                    <a:p>
                      <a:pPr algn="ctr">
                        <a:defRPr sz="1200">
                          <a:solidFill>
                            <a:srgbClr val="212529"/>
                          </a:solidFill>
                          <a:latin typeface="微軟正黑體"/>
                        </a:defRPr>
                      </a:pPr>
                      <a:r>
                        <a:t>0.64089</a:t>
                      </a:r>
                    </a:p>
                  </a:txBody>
                  <a:tcPr>
                    <a:solidFill>
                      <a:srgbClr val="F0F2F5"/>
                    </a:solidFill>
                  </a:tcPr>
                </a:tc>
                <a:tc>
                  <a:txBody>
                    <a:bodyPr/>
                    <a:lstStyle/>
                    <a:p>
                      <a:pPr algn="ctr">
                        <a:defRPr sz="1200">
                          <a:solidFill>
                            <a:srgbClr val="212529"/>
                          </a:solidFill>
                          <a:latin typeface="微軟正黑體"/>
                        </a:defRPr>
                      </a:pPr>
                      <a:r>
                        <a:t>0.49747</a:t>
                      </a:r>
                    </a:p>
                  </a:txBody>
                  <a:tcPr>
                    <a:solidFill>
                      <a:srgbClr val="F0F2F5"/>
                    </a:solidFill>
                  </a:tcPr>
                </a:tc>
                <a:extLst>
                  <a:ext uri="{0D108BD9-81ED-4DB2-BD59-A6C34878D82A}">
                    <a16:rowId xmlns:a16="http://schemas.microsoft.com/office/drawing/2014/main" val="10002"/>
                  </a:ext>
                </a:extLst>
              </a:tr>
              <a:tr h="877824">
                <a:tc>
                  <a:txBody>
                    <a:bodyPr/>
                    <a:lstStyle/>
                    <a:p>
                      <a:pPr algn="ctr">
                        <a:defRPr sz="1200" b="1">
                          <a:solidFill>
                            <a:srgbClr val="212529"/>
                          </a:solidFill>
                          <a:latin typeface="微軟正黑體"/>
                        </a:defRPr>
                      </a:pPr>
                      <a:r>
                        <a:t>3. 本機最優集成 (Tuned)</a:t>
                      </a:r>
                    </a:p>
                  </a:txBody>
                  <a:tcPr>
                    <a:solidFill>
                      <a:srgbClr val="FFF3D7"/>
                    </a:solidFill>
                  </a:tcPr>
                </a:tc>
                <a:tc>
                  <a:txBody>
                    <a:bodyPr/>
                    <a:lstStyle/>
                    <a:p>
                      <a:pPr algn="ctr">
                        <a:defRPr sz="1200" b="1">
                          <a:solidFill>
                            <a:srgbClr val="212529"/>
                          </a:solidFill>
                          <a:latin typeface="微軟正黑體"/>
                        </a:defRPr>
                      </a:pPr>
                      <a:r>
                        <a:t>0.59794</a:t>
                      </a:r>
                    </a:p>
                  </a:txBody>
                  <a:tcPr>
                    <a:solidFill>
                      <a:srgbClr val="FFF3D7"/>
                    </a:solidFill>
                  </a:tcPr>
                </a:tc>
                <a:tc>
                  <a:txBody>
                    <a:bodyPr/>
                    <a:lstStyle/>
                    <a:p>
                      <a:pPr algn="ctr">
                        <a:defRPr sz="1200" b="1">
                          <a:solidFill>
                            <a:srgbClr val="212529"/>
                          </a:solidFill>
                          <a:latin typeface="微軟正黑體"/>
                        </a:defRPr>
                      </a:pPr>
                      <a:r>
                        <a:t>0.79266</a:t>
                      </a:r>
                    </a:p>
                  </a:txBody>
                  <a:tcPr>
                    <a:solidFill>
                      <a:srgbClr val="FFF3D7"/>
                    </a:solidFill>
                  </a:tcPr>
                </a:tc>
                <a:tc>
                  <a:txBody>
                    <a:bodyPr/>
                    <a:lstStyle/>
                    <a:p>
                      <a:pPr algn="ctr">
                        <a:defRPr sz="1200" b="1">
                          <a:solidFill>
                            <a:srgbClr val="212529"/>
                          </a:solidFill>
                          <a:latin typeface="微軟正黑體"/>
                        </a:defRPr>
                      </a:pPr>
                      <a:r>
                        <a:t>0.50429</a:t>
                      </a:r>
                    </a:p>
                  </a:txBody>
                  <a:tcPr>
                    <a:solidFill>
                      <a:srgbClr val="FFF3D7"/>
                    </a:solidFill>
                  </a:tcPr>
                </a:tc>
                <a:tc>
                  <a:txBody>
                    <a:bodyPr/>
                    <a:lstStyle/>
                    <a:p>
                      <a:pPr algn="ctr">
                        <a:defRPr sz="1200" b="1">
                          <a:solidFill>
                            <a:srgbClr val="212529"/>
                          </a:solidFill>
                          <a:latin typeface="微軟正黑體"/>
                        </a:defRPr>
                      </a:pPr>
                      <a:r>
                        <a:t>0.67344</a:t>
                      </a:r>
                    </a:p>
                  </a:txBody>
                  <a:tcPr>
                    <a:solidFill>
                      <a:srgbClr val="FFF3D7"/>
                    </a:solidFill>
                  </a:tcPr>
                </a:tc>
                <a:tc>
                  <a:txBody>
                    <a:bodyPr/>
                    <a:lstStyle/>
                    <a:p>
                      <a:pPr algn="ctr">
                        <a:defRPr sz="1200" b="1">
                          <a:solidFill>
                            <a:srgbClr val="212529"/>
                          </a:solidFill>
                          <a:latin typeface="微軟正黑體"/>
                        </a:defRPr>
                      </a:pPr>
                      <a:r>
                        <a:t>0.46211</a:t>
                      </a:r>
                    </a:p>
                  </a:txBody>
                  <a:tcPr>
                    <a:solidFill>
                      <a:srgbClr val="FFF3D7"/>
                    </a:solidFill>
                  </a:tcPr>
                </a:tc>
                <a:extLst>
                  <a:ext uri="{0D108BD9-81ED-4DB2-BD59-A6C34878D82A}">
                    <a16:rowId xmlns:a16="http://schemas.microsoft.com/office/drawing/2014/main" val="10003"/>
                  </a:ext>
                </a:extLst>
              </a:tr>
              <a:tr h="877824">
                <a:tc>
                  <a:txBody>
                    <a:bodyPr/>
                    <a:lstStyle/>
                    <a:p>
                      <a:pPr algn="ctr">
                        <a:defRPr sz="1200" b="1">
                          <a:solidFill>
                            <a:srgbClr val="212529"/>
                          </a:solidFill>
                          <a:latin typeface="微軟正黑體"/>
                        </a:defRPr>
                      </a:pPr>
                      <a:r>
                        <a:t>4. 雲端大模型集成版</a:t>
                      </a:r>
                    </a:p>
                  </a:txBody>
                  <a:tcPr>
                    <a:solidFill>
                      <a:srgbClr val="DCF0E6"/>
                    </a:solidFill>
                  </a:tcPr>
                </a:tc>
                <a:tc>
                  <a:txBody>
                    <a:bodyPr/>
                    <a:lstStyle/>
                    <a:p>
                      <a:pPr algn="ctr">
                        <a:defRPr sz="1200" b="1">
                          <a:solidFill>
                            <a:srgbClr val="212529"/>
                          </a:solidFill>
                          <a:latin typeface="微軟正黑體"/>
                        </a:defRPr>
                      </a:pPr>
                      <a:r>
                        <a:t>0.76801</a:t>
                      </a:r>
                    </a:p>
                  </a:txBody>
                  <a:tcPr>
                    <a:solidFill>
                      <a:srgbClr val="DCF0E6"/>
                    </a:solidFill>
                  </a:tcPr>
                </a:tc>
                <a:tc>
                  <a:txBody>
                    <a:bodyPr/>
                    <a:lstStyle/>
                    <a:p>
                      <a:pPr algn="ctr">
                        <a:defRPr sz="1200" b="1">
                          <a:solidFill>
                            <a:srgbClr val="212529"/>
                          </a:solidFill>
                          <a:latin typeface="微軟正黑體"/>
                        </a:defRPr>
                      </a:pPr>
                      <a:r>
                        <a:t>0.86542</a:t>
                      </a:r>
                    </a:p>
                  </a:txBody>
                  <a:tcPr>
                    <a:solidFill>
                      <a:srgbClr val="DCF0E6"/>
                    </a:solidFill>
                  </a:tcPr>
                </a:tc>
                <a:tc>
                  <a:txBody>
                    <a:bodyPr/>
                    <a:lstStyle/>
                    <a:p>
                      <a:pPr algn="ctr">
                        <a:defRPr sz="1200" b="1">
                          <a:solidFill>
                            <a:srgbClr val="212529"/>
                          </a:solidFill>
                          <a:latin typeface="微軟正黑體"/>
                        </a:defRPr>
                      </a:pPr>
                      <a:r>
                        <a:t>0.69874</a:t>
                      </a:r>
                    </a:p>
                  </a:txBody>
                  <a:tcPr>
                    <a:solidFill>
                      <a:srgbClr val="DCF0E6"/>
                    </a:solidFill>
                  </a:tcPr>
                </a:tc>
                <a:tc>
                  <a:txBody>
                    <a:bodyPr/>
                    <a:lstStyle/>
                    <a:p>
                      <a:pPr algn="ctr">
                        <a:defRPr sz="1200" b="1">
                          <a:solidFill>
                            <a:srgbClr val="212529"/>
                          </a:solidFill>
                          <a:latin typeface="微軟正黑體"/>
                        </a:defRPr>
                      </a:pPr>
                      <a:r>
                        <a:t>0.79512</a:t>
                      </a:r>
                    </a:p>
                  </a:txBody>
                  <a:tcPr>
                    <a:solidFill>
                      <a:srgbClr val="DCF0E6"/>
                    </a:solidFill>
                  </a:tcPr>
                </a:tc>
                <a:tc>
                  <a:txBody>
                    <a:bodyPr/>
                    <a:lstStyle/>
                    <a:p>
                      <a:pPr algn="ctr">
                        <a:defRPr sz="1200" b="1">
                          <a:solidFill>
                            <a:srgbClr val="212529"/>
                          </a:solidFill>
                          <a:latin typeface="微軟正黑體"/>
                        </a:defRPr>
                      </a:pPr>
                      <a:r>
                        <a:t>0.73248</a:t>
                      </a:r>
                    </a:p>
                  </a:txBody>
                  <a:tcPr>
                    <a:solidFill>
                      <a:srgbClr val="DCF0E6"/>
                    </a:solidFill>
                  </a:tcPr>
                </a:tc>
                <a:extLst>
                  <a:ext uri="{0D108BD9-81ED-4DB2-BD59-A6C34878D82A}">
                    <a16:rowId xmlns:a16="http://schemas.microsoft.com/office/drawing/2014/main" val="10004"/>
                  </a:ext>
                </a:extLst>
              </a:tr>
            </a:tbl>
          </a:graphicData>
        </a:graphic>
      </p:graphicFrame>
      <p:pic>
        <p:nvPicPr>
          <p:cNvPr id="5" name="Picture 4" descr="model_comparison.png"/>
          <p:cNvPicPr>
            <a:picLocks noChangeAspect="1"/>
          </p:cNvPicPr>
          <p:nvPr/>
        </p:nvPicPr>
        <p:blipFill>
          <a:blip r:embed="rId2"/>
          <a:stretch>
            <a:fillRect/>
          </a:stretch>
        </p:blipFill>
        <p:spPr>
          <a:xfrm>
            <a:off x="6858000" y="1701949"/>
            <a:ext cx="5322794" cy="433309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12 實驗結果 - 四大子任務預測表現</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48640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937760" cy="3318857"/>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四大檢查任務的精準度分析</a:t>
            </a:r>
            <a:r>
              <a:rPr dirty="0"/>
              <a:t> (</a:t>
            </a:r>
            <a:r>
              <a:rPr dirty="0" err="1"/>
              <a:t>雲端集成版</a:t>
            </a:r>
            <a:r>
              <a:rPr dirty="0"/>
              <a:t>)</a:t>
            </a:r>
          </a:p>
          <a:p>
            <a:pPr>
              <a:spcAft>
                <a:spcPts val="800"/>
              </a:spcAft>
              <a:defRPr sz="1400">
                <a:latin typeface="微軟正黑體"/>
              </a:defRPr>
            </a:pPr>
            <a:r>
              <a:rPr b="1" dirty="0" err="1">
                <a:solidFill>
                  <a:srgbClr val="182B49"/>
                </a:solidFill>
              </a:rPr>
              <a:t>承諾狀態</a:t>
            </a:r>
            <a:r>
              <a:rPr b="1" dirty="0">
                <a:solidFill>
                  <a:srgbClr val="182B49"/>
                </a:solidFill>
              </a:rPr>
              <a:t> (F1: 0.8654)：</a:t>
            </a:r>
            <a:r>
              <a:rPr b="0" dirty="0" err="1">
                <a:solidFill>
                  <a:srgbClr val="212529"/>
                </a:solidFill>
              </a:rPr>
              <a:t>表現最突出。AI</a:t>
            </a:r>
            <a:r>
              <a:rPr b="0" dirty="0">
                <a:solidFill>
                  <a:srgbClr val="212529"/>
                </a:solidFill>
              </a:rPr>
              <a:t> </a:t>
            </a:r>
            <a:r>
              <a:rPr b="0" dirty="0" err="1">
                <a:solidFill>
                  <a:srgbClr val="212529"/>
                </a:solidFill>
              </a:rPr>
              <a:t>能夠非常精準地看穿這段文字究竟是個空泛的理想宣示，還是真正提出了具體的承諾目標</a:t>
            </a:r>
            <a:r>
              <a:rPr b="0" dirty="0">
                <a:solidFill>
                  <a:srgbClr val="212529"/>
                </a:solidFill>
              </a:rPr>
              <a:t>。</a:t>
            </a:r>
            <a:endParaRPr b="0" dirty="0">
              <a:solidFill>
                <a:srgbClr val="212529"/>
              </a:solidFill>
              <a:ea typeface="微軟正黑體"/>
            </a:endParaRPr>
          </a:p>
          <a:p>
            <a:pPr>
              <a:spcAft>
                <a:spcPts val="800"/>
              </a:spcAft>
              <a:defRPr sz="1400">
                <a:latin typeface="微軟正黑體"/>
              </a:defRPr>
            </a:pPr>
            <a:r>
              <a:rPr b="1" dirty="0" err="1">
                <a:solidFill>
                  <a:srgbClr val="182B49"/>
                </a:solidFill>
              </a:rPr>
              <a:t>證據狀態</a:t>
            </a:r>
            <a:r>
              <a:rPr b="1" dirty="0">
                <a:solidFill>
                  <a:srgbClr val="182B49"/>
                </a:solidFill>
              </a:rPr>
              <a:t> (F1: 0.7951)：</a:t>
            </a:r>
            <a:r>
              <a:rPr b="0" dirty="0" err="1">
                <a:solidFill>
                  <a:srgbClr val="212529"/>
                </a:solidFill>
              </a:rPr>
              <a:t>表現優異。AI</a:t>
            </a:r>
            <a:r>
              <a:rPr b="0" dirty="0">
                <a:solidFill>
                  <a:srgbClr val="212529"/>
                </a:solidFill>
              </a:rPr>
              <a:t> </a:t>
            </a:r>
            <a:r>
              <a:rPr b="0" dirty="0" err="1">
                <a:solidFill>
                  <a:srgbClr val="212529"/>
                </a:solidFill>
              </a:rPr>
              <a:t>能夠正確判斷句子中是否提到了與承諾對應的實質數字或佐證事實</a:t>
            </a:r>
            <a:r>
              <a:rPr b="0" dirty="0">
                <a:solidFill>
                  <a:srgbClr val="212529"/>
                </a:solidFill>
              </a:rPr>
              <a:t>。</a:t>
            </a:r>
            <a:endParaRPr b="0" dirty="0">
              <a:solidFill>
                <a:srgbClr val="212529"/>
              </a:solidFill>
              <a:ea typeface="微軟正黑體"/>
            </a:endParaRPr>
          </a:p>
          <a:p>
            <a:pPr>
              <a:spcAft>
                <a:spcPts val="800"/>
              </a:spcAft>
              <a:defRPr sz="1400">
                <a:latin typeface="微軟正黑體"/>
              </a:defRPr>
            </a:pPr>
            <a:r>
              <a:rPr b="1">
                <a:solidFill>
                  <a:srgbClr val="182B49"/>
                </a:solidFill>
              </a:rPr>
              <a:t>證據品質 (F1: 0.7324)：</a:t>
            </a:r>
            <a:r>
              <a:rPr b="0">
                <a:solidFill>
                  <a:srgbClr val="212529"/>
                </a:solidFill>
              </a:rPr>
              <a:t>藉由逆頻率損失和門檻調優，AI 能抓出那些「模糊、誤導性」的文字，評分顯著拉升。</a:t>
            </a:r>
            <a:endParaRPr lang="zh-TW" dirty="0">
              <a:solidFill>
                <a:srgbClr val="212529"/>
              </a:solidFill>
              <a:ea typeface="微軟正黑體"/>
            </a:endParaRPr>
          </a:p>
          <a:p>
            <a:pPr>
              <a:spcAft>
                <a:spcPts val="800"/>
              </a:spcAft>
              <a:defRPr sz="1400">
                <a:latin typeface="微軟正黑體"/>
              </a:defRPr>
            </a:pPr>
            <a:r>
              <a:rPr b="1" dirty="0" err="1">
                <a:solidFill>
                  <a:srgbClr val="182B49"/>
                </a:solidFill>
              </a:rPr>
              <a:t>驗證時程</a:t>
            </a:r>
            <a:r>
              <a:rPr b="1" dirty="0">
                <a:solidFill>
                  <a:srgbClr val="182B49"/>
                </a:solidFill>
              </a:rPr>
              <a:t> (F1: 0.6987)：</a:t>
            </a:r>
            <a:r>
              <a:rPr b="0" dirty="0" err="1">
                <a:solidFill>
                  <a:srgbClr val="212529"/>
                </a:solidFill>
              </a:rPr>
              <a:t>因為時程有</a:t>
            </a:r>
            <a:r>
              <a:rPr b="0" dirty="0">
                <a:solidFill>
                  <a:srgbClr val="212529"/>
                </a:solidFill>
              </a:rPr>
              <a:t> 5 </a:t>
            </a:r>
            <a:r>
              <a:rPr b="0" dirty="0" err="1">
                <a:solidFill>
                  <a:srgbClr val="212529"/>
                </a:solidFill>
              </a:rPr>
              <a:t>個類別（多分類任務</a:t>
            </a:r>
            <a:r>
              <a:rPr b="0" dirty="0">
                <a:solidFill>
                  <a:srgbClr val="212529"/>
                </a:solidFill>
              </a:rPr>
              <a:t>），</a:t>
            </a:r>
            <a:r>
              <a:rPr b="0" dirty="0" err="1">
                <a:solidFill>
                  <a:srgbClr val="212529"/>
                </a:solidFill>
              </a:rPr>
              <a:t>難度最高，但我們的方法依然比</a:t>
            </a:r>
            <a:r>
              <a:rPr b="0" dirty="0">
                <a:solidFill>
                  <a:srgbClr val="212529"/>
                </a:solidFill>
              </a:rPr>
              <a:t> Baseline (0.439) </a:t>
            </a:r>
            <a:r>
              <a:rPr b="0" dirty="0" err="1">
                <a:solidFill>
                  <a:srgbClr val="212529"/>
                </a:solidFill>
              </a:rPr>
              <a:t>提升了</a:t>
            </a:r>
            <a:r>
              <a:rPr b="0" dirty="0">
                <a:solidFill>
                  <a:srgbClr val="212529"/>
                </a:solidFill>
              </a:rPr>
              <a:t> 59%。</a:t>
            </a:r>
            <a:endParaRPr b="0" dirty="0">
              <a:solidFill>
                <a:srgbClr val="212529"/>
              </a:solidFill>
              <a:ea typeface="微軟正黑體"/>
            </a:endParaRPr>
          </a:p>
        </p:txBody>
      </p:sp>
      <p:pic>
        <p:nvPicPr>
          <p:cNvPr id="7" name="Picture 6" descr="subtask_performance.png"/>
          <p:cNvPicPr>
            <a:picLocks noChangeAspect="1"/>
          </p:cNvPicPr>
          <p:nvPr/>
        </p:nvPicPr>
        <p:blipFill>
          <a:blip r:embed="rId2"/>
          <a:stretch>
            <a:fillRect/>
          </a:stretch>
        </p:blipFill>
        <p:spPr>
          <a:xfrm>
            <a:off x="6406985" y="1712180"/>
            <a:ext cx="5785014" cy="43228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430887"/>
          </a:xfrm>
          <a:prstGeom prst="rect">
            <a:avLst/>
          </a:prstGeom>
          <a:noFill/>
        </p:spPr>
        <p:txBody>
          <a:bodyPr wrap="square" lIns="0" tIns="0" rIns="0" bIns="0" anchor="t">
            <a:spAutoFit/>
          </a:bodyPr>
          <a:lstStyle/>
          <a:p>
            <a:pPr>
              <a:defRPr sz="2800" b="1">
                <a:solidFill>
                  <a:srgbClr val="182B49"/>
                </a:solidFill>
                <a:latin typeface="微軟正黑體"/>
              </a:defRPr>
            </a:pPr>
            <a:r>
              <a:t>13 實驗結果 - 訓練曲線與特徵學習</a:t>
            </a:r>
            <a:endParaRPr lang="zh-TW" altLang="en-US" dirty="0">
              <a:ea typeface="微軟正黑體"/>
            </a:endParaRP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48640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937760" cy="3840480"/>
          </a:xfrm>
          <a:prstGeom prst="rect">
            <a:avLst/>
          </a:prstGeom>
          <a:noFill/>
        </p:spPr>
        <p:txBody>
          <a:bodyPr wrap="square" lIns="0" tIns="0" rIns="0" bIns="0">
            <a:spAutoFit/>
          </a:bodyPr>
          <a:lstStyle/>
          <a:p>
            <a:pPr>
              <a:spcAft>
                <a:spcPts val="1400"/>
              </a:spcAft>
              <a:defRPr sz="2200" b="1">
                <a:solidFill>
                  <a:srgbClr val="182B49"/>
                </a:solidFill>
                <a:latin typeface="微軟正黑體"/>
              </a:defRPr>
            </a:pPr>
            <a:r>
              <a:t>模型學習曲線佐證</a:t>
            </a:r>
          </a:p>
          <a:p>
            <a:pPr>
              <a:spcAft>
                <a:spcPts val="800"/>
              </a:spcAft>
              <a:defRPr sz="1500">
                <a:latin typeface="微軟正黑體"/>
              </a:defRPr>
            </a:pPr>
            <a:r>
              <a:rPr b="1">
                <a:solidFill>
                  <a:srgbClr val="182B49"/>
                </a:solidFill>
              </a:rPr>
              <a:t>Loss 穩定下降：</a:t>
            </a:r>
            <a:r>
              <a:rPr b="0">
                <a:solidFill>
                  <a:srgbClr val="212529"/>
                </a:solidFill>
              </a:rPr>
              <a:t>從隨附的訓練曲線圖可以看出，在訓練過程中，Loss (損失值) 隨著學習進程呈現平滑且穩定的下滑，代表模型正在有效地提取特徵，沒有出現明顯的梯度震盪。</a:t>
            </a:r>
          </a:p>
          <a:p>
            <a:pPr>
              <a:spcAft>
                <a:spcPts val="800"/>
              </a:spcAft>
              <a:defRPr sz="1500">
                <a:latin typeface="微軟正黑體"/>
              </a:defRPr>
            </a:pPr>
            <a:r>
              <a:rPr b="1">
                <a:solidFill>
                  <a:srgbClr val="182B49"/>
                </a:solidFill>
              </a:rPr>
              <a:t>F1 分數穩定收斂：</a:t>
            </a:r>
            <a:r>
              <a:rPr b="0">
                <a:solidFill>
                  <a:srgbClr val="212529"/>
                </a:solidFill>
              </a:rPr>
              <a:t>加權 F1 分數（紅色虛線）在第 8 個 Epoch 達到最高點後即趨於穩定，說明模型收斂平穩，沒有過擬合 (Overfitting) 的現象。</a:t>
            </a:r>
          </a:p>
          <a:p>
            <a:pPr>
              <a:spcAft>
                <a:spcPts val="800"/>
              </a:spcAft>
              <a:defRPr sz="1500">
                <a:latin typeface="微軟正黑體"/>
              </a:defRPr>
            </a:pPr>
            <a:r>
              <a:rPr b="1">
                <a:solidFill>
                  <a:srgbClr val="182B49"/>
                </a:solidFill>
              </a:rPr>
              <a:t>客觀圖表實證：</a:t>
            </a:r>
            <a:r>
              <a:rPr b="0">
                <a:solidFill>
                  <a:srgbClr val="212529"/>
                </a:solidFill>
              </a:rPr>
              <a:t>這張圖表為我們的特徵融合與多任務學習模式提供了堅實的客觀數據支持，證實該優化策略極具實用性。</a:t>
            </a:r>
          </a:p>
        </p:txBody>
      </p:sp>
      <p:pic>
        <p:nvPicPr>
          <p:cNvPr id="7" name="Picture 6" descr="optimized_curve.png"/>
          <p:cNvPicPr>
            <a:picLocks noChangeAspect="1"/>
          </p:cNvPicPr>
          <p:nvPr/>
        </p:nvPicPr>
        <p:blipFill>
          <a:blip r:embed="rId2"/>
          <a:stretch>
            <a:fillRect/>
          </a:stretch>
        </p:blipFill>
        <p:spPr>
          <a:xfrm>
            <a:off x="6462202" y="1656963"/>
            <a:ext cx="5718753" cy="43780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731520"/>
          </a:xfrm>
          <a:prstGeom prst="rect">
            <a:avLst/>
          </a:prstGeom>
          <a:noFill/>
        </p:spPr>
        <p:txBody>
          <a:bodyPr wrap="square" lIns="0" tIns="0" rIns="0" bIns="0">
            <a:spAutoFit/>
          </a:bodyPr>
          <a:lstStyle/>
          <a:p>
            <a:pPr>
              <a:defRPr sz="2800" b="1">
                <a:solidFill>
                  <a:srgbClr val="182B49"/>
                </a:solidFill>
                <a:latin typeface="微軟正黑體"/>
              </a:defRPr>
            </a:pPr>
            <a:r>
              <a:t>14 結論與未來展望</a:t>
            </a:r>
          </a:p>
        </p:txBody>
      </p:sp>
      <p:sp>
        <p:nvSpPr>
          <p:cNvPr id="3" name="Rectangle 2"/>
          <p:cNvSpPr/>
          <p:nvPr/>
        </p:nvSpPr>
        <p:spPr>
          <a:xfrm>
            <a:off x="731520" y="1005840"/>
            <a:ext cx="1371600" cy="36576"/>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9728" cy="438912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457200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主要結論</a:t>
            </a:r>
            <a:r>
              <a:rPr dirty="0"/>
              <a:t> </a:t>
            </a:r>
          </a:p>
          <a:p>
            <a:pPr>
              <a:spcAft>
                <a:spcPts val="800"/>
              </a:spcAft>
              <a:defRPr sz="1500">
                <a:latin typeface="微軟正黑體"/>
              </a:defRPr>
            </a:pPr>
            <a:r>
              <a:rPr b="1" dirty="0">
                <a:solidFill>
                  <a:srgbClr val="182B49"/>
                </a:solidFill>
              </a:rPr>
              <a:t>• </a:t>
            </a:r>
            <a:r>
              <a:rPr b="1" dirty="0" err="1">
                <a:solidFill>
                  <a:srgbClr val="182B49"/>
                </a:solidFill>
              </a:rPr>
              <a:t>自動化查核系統：</a:t>
            </a:r>
            <a:r>
              <a:rPr b="0" dirty="0" err="1">
                <a:solidFill>
                  <a:srgbClr val="212529"/>
                </a:solidFill>
              </a:rPr>
              <a:t>成功開發基於</a:t>
            </a:r>
            <a:r>
              <a:rPr b="0" dirty="0">
                <a:solidFill>
                  <a:srgbClr val="212529"/>
                </a:solidFill>
              </a:rPr>
              <a:t> </a:t>
            </a:r>
            <a:r>
              <a:rPr b="0" dirty="0" err="1">
                <a:solidFill>
                  <a:srgbClr val="212529"/>
                </a:solidFill>
              </a:rPr>
              <a:t>RoBERTa</a:t>
            </a:r>
            <a:r>
              <a:rPr b="0" dirty="0">
                <a:solidFill>
                  <a:srgbClr val="212529"/>
                </a:solidFill>
              </a:rPr>
              <a:t> </a:t>
            </a:r>
            <a:r>
              <a:rPr b="0" dirty="0" err="1">
                <a:solidFill>
                  <a:srgbClr val="212529"/>
                </a:solidFill>
              </a:rPr>
              <a:t>的多任務</a:t>
            </a:r>
            <a:r>
              <a:rPr b="0" dirty="0">
                <a:solidFill>
                  <a:srgbClr val="212529"/>
                </a:solidFill>
              </a:rPr>
              <a:t> ESG </a:t>
            </a:r>
            <a:r>
              <a:rPr b="0" dirty="0" err="1">
                <a:solidFill>
                  <a:srgbClr val="212529"/>
                </a:solidFill>
              </a:rPr>
              <a:t>驗證系統，能客觀、高效辨識企業「漂綠」風險</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a typeface="微軟正黑體"/>
            </a:endParaRPr>
          </a:p>
          <a:p>
            <a:pPr>
              <a:spcAft>
                <a:spcPts val="800"/>
              </a:spcAft>
              <a:defRPr sz="1500">
                <a:latin typeface="微軟正黑體"/>
              </a:defRPr>
            </a:pPr>
            <a:r>
              <a:rPr b="1" dirty="0">
                <a:solidFill>
                  <a:srgbClr val="182B49"/>
                </a:solidFill>
              </a:rPr>
              <a:t>• </a:t>
            </a:r>
            <a:r>
              <a:rPr b="1" dirty="0" err="1">
                <a:solidFill>
                  <a:srgbClr val="182B49"/>
                </a:solidFill>
              </a:rPr>
              <a:t>優化策略得到印證：</a:t>
            </a:r>
            <a:r>
              <a:rPr b="0" dirty="0" err="1">
                <a:solidFill>
                  <a:srgbClr val="212529"/>
                </a:solidFill>
              </a:rPr>
              <a:t>特徵融合、多模型集成與決策門檻調優，將加權</a:t>
            </a:r>
            <a:r>
              <a:rPr b="0" dirty="0">
                <a:solidFill>
                  <a:srgbClr val="212529"/>
                </a:solidFill>
              </a:rPr>
              <a:t> F1 </a:t>
            </a:r>
            <a:r>
              <a:rPr b="0" dirty="0" err="1">
                <a:solidFill>
                  <a:srgbClr val="212529"/>
                </a:solidFill>
              </a:rPr>
              <a:t>顯著提升</a:t>
            </a:r>
            <a:r>
              <a:rPr b="0" dirty="0">
                <a:solidFill>
                  <a:srgbClr val="212529"/>
                </a:solidFill>
              </a:rPr>
              <a:t> 36.98%，</a:t>
            </a:r>
            <a:r>
              <a:rPr b="0" dirty="0" err="1">
                <a:solidFill>
                  <a:srgbClr val="212529"/>
                </a:solidFill>
              </a:rPr>
              <a:t>證實本研究框架之有效性</a:t>
            </a:r>
            <a:r>
              <a:rPr b="0" dirty="0">
                <a:solidFill>
                  <a:srgbClr val="212529"/>
                </a:solidFill>
              </a:rPr>
              <a:t>。</a:t>
            </a:r>
            <a:endParaRPr b="0" dirty="0">
              <a:solidFill>
                <a:srgbClr val="212529"/>
              </a:solidFill>
              <a:ea typeface="微軟正黑體"/>
            </a:endParaRPr>
          </a:p>
        </p:txBody>
      </p:sp>
      <p:sp>
        <p:nvSpPr>
          <p:cNvPr id="7" name="Rounded Rectangle 6"/>
          <p:cNvSpPr/>
          <p:nvPr/>
        </p:nvSpPr>
        <p:spPr>
          <a:xfrm>
            <a:off x="6217920" y="1645920"/>
            <a:ext cx="5212080" cy="4389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645920"/>
            <a:ext cx="109728" cy="438912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920240"/>
            <a:ext cx="4663440" cy="2339102"/>
          </a:xfrm>
          <a:prstGeom prst="rect">
            <a:avLst/>
          </a:prstGeom>
          <a:noFill/>
        </p:spPr>
        <p:txBody>
          <a:bodyPr wrap="square" lIns="0" tIns="0" rIns="0" bIns="0" anchor="t">
            <a:spAutoFit/>
          </a:bodyPr>
          <a:lstStyle/>
          <a:p>
            <a:pPr>
              <a:spcAft>
                <a:spcPts val="1400"/>
              </a:spcAft>
              <a:defRPr sz="2200" b="1">
                <a:solidFill>
                  <a:srgbClr val="182B49"/>
                </a:solidFill>
                <a:latin typeface="微軟正黑體"/>
              </a:defRPr>
            </a:pPr>
            <a:r>
              <a:rPr dirty="0" err="1"/>
              <a:t>未來展望</a:t>
            </a:r>
            <a:r>
              <a:rPr dirty="0"/>
              <a:t> </a:t>
            </a:r>
          </a:p>
          <a:p>
            <a:pPr>
              <a:spcAft>
                <a:spcPts val="800"/>
              </a:spcAft>
              <a:defRPr sz="1500">
                <a:latin typeface="微軟正黑體"/>
              </a:defRPr>
            </a:pPr>
            <a:r>
              <a:rPr b="1" dirty="0">
                <a:solidFill>
                  <a:srgbClr val="182B49"/>
                </a:solidFill>
              </a:rPr>
              <a:t>• </a:t>
            </a:r>
            <a:r>
              <a:rPr b="1" dirty="0" err="1">
                <a:solidFill>
                  <a:srgbClr val="182B49"/>
                </a:solidFill>
              </a:rPr>
              <a:t>本土化語意增強：</a:t>
            </a:r>
            <a:r>
              <a:rPr b="0" dirty="0" err="1">
                <a:solidFill>
                  <a:srgbClr val="212529"/>
                </a:solidFill>
              </a:rPr>
              <a:t>規劃擴大蒐集台灣上市櫃企業永續報告書，進行二次預訓練，深化本土永續術語之語境理解</a:t>
            </a:r>
            <a:r>
              <a:rPr b="0" dirty="0">
                <a:solidFill>
                  <a:srgbClr val="212529"/>
                </a:solidFill>
              </a:rPr>
              <a:t>。</a:t>
            </a:r>
            <a:endParaRPr b="0" dirty="0">
              <a:solidFill>
                <a:srgbClr val="212529"/>
              </a:solidFill>
              <a:ea typeface="微軟正黑體"/>
            </a:endParaRPr>
          </a:p>
          <a:p>
            <a:pPr>
              <a:spcAft>
                <a:spcPts val="800"/>
              </a:spcAft>
              <a:defRPr sz="1500">
                <a:latin typeface="微軟正黑體"/>
              </a:defRPr>
            </a:pPr>
            <a:endParaRPr lang="zh-TW" dirty="0">
              <a:solidFill>
                <a:srgbClr val="212529"/>
              </a:solidFill>
            </a:endParaRPr>
          </a:p>
          <a:p>
            <a:pPr>
              <a:spcAft>
                <a:spcPts val="800"/>
              </a:spcAft>
              <a:defRPr sz="1500">
                <a:latin typeface="微軟正黑體"/>
              </a:defRPr>
            </a:pPr>
            <a:r>
              <a:rPr b="1" dirty="0">
                <a:solidFill>
                  <a:srgbClr val="182B49"/>
                </a:solidFill>
              </a:rPr>
              <a:t>• </a:t>
            </a:r>
            <a:r>
              <a:rPr b="1" dirty="0" err="1">
                <a:solidFill>
                  <a:srgbClr val="182B49"/>
                </a:solidFill>
              </a:rPr>
              <a:t>推理確信與LLM整合：</a:t>
            </a:r>
            <a:r>
              <a:rPr b="0" dirty="0" err="1">
                <a:solidFill>
                  <a:srgbClr val="212529"/>
                </a:solidFill>
              </a:rPr>
              <a:t>計畫結合生成式大語言模型（LLM）之上下文推理能力，以應對更複雜的</a:t>
            </a:r>
            <a:r>
              <a:rPr b="0" dirty="0">
                <a:solidFill>
                  <a:srgbClr val="212529"/>
                </a:solidFill>
              </a:rPr>
              <a:t> ESG </a:t>
            </a:r>
            <a:r>
              <a:rPr b="0" dirty="0" err="1">
                <a:solidFill>
                  <a:srgbClr val="212529"/>
                </a:solidFill>
              </a:rPr>
              <a:t>指標確信查核任務</a:t>
            </a:r>
            <a:r>
              <a:rPr b="0" dirty="0">
                <a:solidFill>
                  <a:srgbClr val="212529"/>
                </a:solidFill>
              </a:rPr>
              <a:t>。</a:t>
            </a:r>
            <a:endParaRPr b="0" dirty="0">
              <a:solidFill>
                <a:srgbClr val="212529"/>
              </a:solidFill>
              <a:ea typeface="微軟正黑體"/>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E31"/>
        </a:solidFill>
        <a:effectLst/>
      </p:bgPr>
    </p:bg>
    <p:spTree>
      <p:nvGrpSpPr>
        <p:cNvPr id="1" name=""/>
        <p:cNvGrpSpPr/>
        <p:nvPr/>
      </p:nvGrpSpPr>
      <p:grpSpPr>
        <a:xfrm>
          <a:off x="0" y="0"/>
          <a:ext cx="0" cy="0"/>
          <a:chOff x="0" y="0"/>
          <a:chExt cx="0" cy="0"/>
        </a:xfrm>
      </p:grpSpPr>
      <p:sp>
        <p:nvSpPr>
          <p:cNvPr id="2" name="Rectangle 1"/>
          <p:cNvSpPr/>
          <p:nvPr/>
        </p:nvSpPr>
        <p:spPr>
          <a:xfrm>
            <a:off x="0" y="0"/>
            <a:ext cx="3504895" cy="6858000"/>
          </a:xfrm>
          <a:prstGeom prst="rect">
            <a:avLst/>
          </a:prstGeom>
          <a:solidFill>
            <a:srgbClr val="18263C"/>
          </a:solidFill>
          <a:ln>
            <a:solidFill>
              <a:srgbClr val="18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a:off x="3504895" y="0"/>
            <a:ext cx="1828800" cy="6858000"/>
          </a:xfrm>
          <a:prstGeom prst="rtTriangle">
            <a:avLst/>
          </a:prstGeom>
          <a:solidFill>
            <a:srgbClr val="18263C"/>
          </a:solidFill>
          <a:ln>
            <a:solidFill>
              <a:srgbClr val="18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82880" cy="6858000"/>
          </a:xfrm>
          <a:prstGeom prst="rect">
            <a:avLst/>
          </a:prstGeom>
          <a:solidFill>
            <a:srgbClr val="228B73"/>
          </a:solidFill>
          <a:ln>
            <a:solidFill>
              <a:srgbClr val="228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0456" y="2853214"/>
            <a:ext cx="6858000" cy="1164421"/>
          </a:xfrm>
          <a:prstGeom prst="rect">
            <a:avLst/>
          </a:prstGeom>
          <a:noFill/>
        </p:spPr>
        <p:txBody>
          <a:bodyPr wrap="square" lIns="0" tIns="0" rIns="0" bIns="0" anchor="t">
            <a:spAutoFit/>
          </a:bodyPr>
          <a:lstStyle/>
          <a:p>
            <a:pPr>
              <a:defRPr sz="4000" b="1">
                <a:solidFill>
                  <a:srgbClr val="FFFFFF"/>
                </a:solidFill>
                <a:latin typeface="微軟正黑體"/>
              </a:defRPr>
            </a:pPr>
            <a:r>
              <a:rPr lang="zh-TW" sz="4800">
                <a:ea typeface="新細明體"/>
              </a:rPr>
              <a:t>簡報結束</a:t>
            </a:r>
            <a:r>
              <a:rPr lang="zh-TW" altLang="en-US" sz="4800" dirty="0">
                <a:ea typeface="新細明體"/>
              </a:rPr>
              <a:t> </a:t>
            </a:r>
            <a:r>
              <a:rPr lang="zh-TW" sz="4800">
                <a:ea typeface="新細明體"/>
              </a:rPr>
              <a:t>感謝聆聽</a:t>
            </a:r>
            <a:endParaRPr lang="zh-TW" altLang="en-US" sz="4800" dirty="0" err="1">
              <a:ea typeface="新細明體"/>
            </a:endParaRPr>
          </a:p>
          <a:p>
            <a:pPr>
              <a:spcBef>
                <a:spcPts val="1400"/>
              </a:spcBef>
              <a:defRPr sz="1600">
                <a:solidFill>
                  <a:srgbClr val="228B73"/>
                </a:solidFill>
                <a:latin typeface="微軟正黑體"/>
              </a:defRPr>
            </a:pPr>
            <a:endParaRPr sz="1600" dirty="0">
              <a:solidFill>
                <a:srgbClr val="228B73"/>
              </a:solidFill>
              <a:ea typeface="微軟正黑體"/>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寬螢幕</PresentationFormat>
  <Slides>16</Slides>
  <Notes>0</Notes>
  <HiddenSlides>0</HiddenSlides>
  <ScaleCrop>false</ScaleCrop>
  <HeadingPairs>
    <vt:vector size="4" baseType="variant">
      <vt:variant>
        <vt:lpstr>佈景主題</vt:lpstr>
      </vt:variant>
      <vt:variant>
        <vt:i4>1</vt:i4>
      </vt:variant>
      <vt:variant>
        <vt:lpstr>投影片標題</vt:lpstr>
      </vt:variant>
      <vt:variant>
        <vt:i4>16</vt:i4>
      </vt:variant>
    </vt:vector>
  </HeadingPairs>
  <TitlesOfParts>
    <vt:vector size="17" baseType="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55</cp:revision>
  <dcterms:created xsi:type="dcterms:W3CDTF">2013-01-27T09:14:16Z</dcterms:created>
  <dcterms:modified xsi:type="dcterms:W3CDTF">2026-06-05T11:34:08Z</dcterms:modified>
  <cp:category/>
</cp:coreProperties>
</file>